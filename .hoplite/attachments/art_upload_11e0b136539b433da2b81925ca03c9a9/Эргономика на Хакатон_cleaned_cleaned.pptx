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452" r:id="rId2"/>
    <p:sldId id="395" r:id="rId3"/>
    <p:sldId id="453" r:id="rId4"/>
    <p:sldId id="29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3F741-D710-49BC-9B31-0C350E48250B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4509F-F4FC-4BE6-B81E-653D90894C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89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 — сделать работу максимально удобной, безопасной и эффективной, учитывая физические и психологические особенности человека.</a:t>
            </a:r>
          </a:p>
          <a:p>
            <a:r>
              <a:rPr lang="ru-RU" b="0" i="0" dirty="0">
                <a:effectLst/>
                <a:latin typeface="-apple-system"/>
              </a:rPr>
              <a:t>Картинка - силуэт мастера, вокруг него три иконки-результата эргономики: щит (безопасность), часы (экономия времени), спина/осанка (снижение нагрузки)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57E2E-2576-6B4F-929E-E85FD75A94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72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5CDC98C-A455-46E0-85DF-153B12F795B3}" type="slidenum">
              <a:rPr lang="fr-FR" altLang="ru-RU" sz="1200" smtClean="0"/>
              <a:pPr/>
              <a:t>2</a:t>
            </a:fld>
            <a:endParaRPr lang="fr-FR" altLang="ru-RU" sz="1200" dirty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04788" y="819150"/>
            <a:ext cx="7134226" cy="40132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17" y="5110623"/>
            <a:ext cx="4926741" cy="4845180"/>
          </a:xfrm>
          <a:noFill/>
        </p:spPr>
        <p:txBody>
          <a:bodyPr/>
          <a:lstStyle/>
          <a:p>
            <a:pPr eaLnBrk="1" hangingPunct="1"/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185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7575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5CDC98C-A455-46E0-85DF-153B12F795B3}" type="slidenum">
              <a:rPr lang="fr-FR" altLang="ru-RU" sz="1200" smtClean="0"/>
              <a:pPr/>
              <a:t>3</a:t>
            </a:fld>
            <a:endParaRPr lang="fr-FR" altLang="ru-RU" sz="1200" dirty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04788" y="819150"/>
            <a:ext cx="7134226" cy="40132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17" y="5110623"/>
            <a:ext cx="4926741" cy="4845180"/>
          </a:xfrm>
          <a:noFill/>
        </p:spPr>
        <p:txBody>
          <a:bodyPr/>
          <a:lstStyle/>
          <a:p>
            <a:pPr eaLnBrk="1" hangingPunct="1"/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51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01A1D0E-A810-4D82-BC50-8B2E0A3D19B4}" type="slidenum">
              <a:rPr lang="en-US" altLang="en-US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9312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389336" y="147085"/>
            <a:ext cx="9700595" cy="30056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867" b="1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8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61EA02EA-A4F7-4B4E-8D01-B90AB9E566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400" b="1" cap="all" baseline="0"/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4969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A9C53225-C17F-4A34-A77F-570861BC8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133" b="1" cap="all" baseline="0"/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9145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204CD9B3-AA9F-4CF5-B8B7-954C7A1AA1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133" cap="all" baseline="0"/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556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E03CCCDF-2800-48C6-97CC-4BCF26C0E7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133" cap="all" baseline="0"/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8618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Sub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A5BED984-63FF-4379-98EF-132D9FC47C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133" cap="all" baseline="0"/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406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389336" y="315254"/>
            <a:ext cx="9700595" cy="300567"/>
          </a:xfrm>
          <a:prstGeom prst="rect">
            <a:avLst/>
          </a:prstGeom>
        </p:spPr>
        <p:txBody>
          <a:bodyPr anchor="ctr"/>
          <a:lstStyle>
            <a:lvl1pPr>
              <a:defRPr sz="2133"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7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7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+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D4E81-CC0E-4184-A230-AD2E071F61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119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svg"/><Relationship Id="rId1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D3E5C8-228E-42CD-B8F5-2123A2E80DC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12250" y="6297844"/>
            <a:ext cx="2104585" cy="288000"/>
          </a:xfrm>
          <a:prstGeom prst="rect">
            <a:avLst/>
          </a:prstGeom>
        </p:spPr>
      </p:pic>
      <p:pic>
        <p:nvPicPr>
          <p:cNvPr id="11" name="Рисунок 12">
            <a:extLst>
              <a:ext uri="{FF2B5EF4-FFF2-40B4-BE49-F238E27FC236}">
                <a16:creationId xmlns:a16="http://schemas.microsoft.com/office/drawing/2014/main" id="{264786AB-B6CD-4A34-94D9-2985F406FAD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9748" y="6697135"/>
            <a:ext cx="2912253" cy="16366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5AF228-324A-42F2-B3B5-A4D59022FEB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91385" y="69459"/>
            <a:ext cx="1731441" cy="479152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813D6A1-6CE2-4BF1-A103-7B8EBA9B8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2276" y="6325927"/>
            <a:ext cx="577851" cy="192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fld id="{A4C31F17-08E7-4423-8E62-229ABF71E9E0}" type="slidenum">
              <a:rPr altLang="ru-RU" sz="1333" b="0" noProof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eaLnBrk="1" hangingPunct="1">
                <a:defRPr/>
              </a:pPr>
              <a:t>‹#›</a:t>
            </a:fld>
            <a:endParaRPr altLang="ru-RU" sz="1333" b="0" noProof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26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67" b="0" kern="1200" cap="all" spc="67" baseline="0">
          <a:solidFill>
            <a:srgbClr val="F5671E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000"/>
        </a:spcBef>
        <a:buClr>
          <a:srgbClr val="F5671E"/>
        </a:buClr>
        <a:buFont typeface="Arial" panose="020B0604020202020204" pitchFamily="34" charset="0"/>
        <a:buNone/>
        <a:defRPr sz="1600" kern="1200">
          <a:solidFill>
            <a:srgbClr val="4D5964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F5671E"/>
        </a:buClr>
        <a:buFont typeface="Arial" panose="020B0604020202020204" pitchFamily="34" charset="0"/>
        <a:buChar char="•"/>
        <a:defRPr sz="1600" kern="1200">
          <a:solidFill>
            <a:srgbClr val="4D5964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F5671E"/>
        </a:buClr>
        <a:buFont typeface="Arial" panose="020B0604020202020204" pitchFamily="34" charset="0"/>
        <a:buChar char="•"/>
        <a:defRPr sz="1600" kern="1200">
          <a:solidFill>
            <a:srgbClr val="4D5964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F5671E"/>
        </a:buClr>
        <a:buFont typeface="Arial" panose="020B0604020202020204" pitchFamily="34" charset="0"/>
        <a:buChar char="•"/>
        <a:defRPr sz="1333" kern="1200">
          <a:solidFill>
            <a:srgbClr val="4D5964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F5671E"/>
        </a:buClr>
        <a:buFont typeface="Arial" panose="020B0604020202020204" pitchFamily="34" charset="0"/>
        <a:buChar char="•"/>
        <a:defRPr sz="1333" kern="1200">
          <a:solidFill>
            <a:srgbClr val="4D5964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1">
          <p15:clr>
            <a:srgbClr val="F26B43"/>
          </p15:clr>
        </p15:guide>
        <p15:guide id="2" pos="5630">
          <p15:clr>
            <a:srgbClr val="F26B43"/>
          </p15:clr>
        </p15:guide>
        <p15:guide id="3" orient="horz" pos="2935">
          <p15:clr>
            <a:srgbClr val="F26B43"/>
          </p15:clr>
        </p15:guide>
        <p15:guide id="4" orient="horz" pos="146">
          <p15:clr>
            <a:srgbClr val="F26B43"/>
          </p15:clr>
        </p15:guide>
        <p15:guide id="5" orient="horz" pos="554">
          <p15:clr>
            <a:srgbClr val="F26B43"/>
          </p15:clr>
        </p15:guide>
        <p15:guide id="7" orient="horz" pos="3003">
          <p15:clr>
            <a:srgbClr val="F26B43"/>
          </p15:clr>
        </p15:guide>
        <p15:guide id="8" pos="5511">
          <p15:clr>
            <a:srgbClr val="F26B43"/>
          </p15:clr>
        </p15:guide>
        <p15:guide id="10" pos="2880">
          <p15:clr>
            <a:srgbClr val="F26B43"/>
          </p15:clr>
        </p15:guide>
        <p15:guide id="11" orient="horz" pos="1620">
          <p15:clr>
            <a:srgbClr val="F26B43"/>
          </p15:clr>
        </p15:guide>
        <p15:guide id="12" orient="horz" pos="288">
          <p15:clr>
            <a:srgbClr val="F26B43"/>
          </p15:clr>
        </p15:guide>
        <p15:guide id="13" orient="horz" pos="361">
          <p15:clr>
            <a:srgbClr val="F26B43"/>
          </p15:clr>
        </p15:guide>
        <p15:guide id="14" orient="horz" pos="426">
          <p15:clr>
            <a:srgbClr val="F26B43"/>
          </p15:clr>
        </p15:guide>
        <p15:guide id="15" pos="2767">
          <p15:clr>
            <a:srgbClr val="F26B43"/>
          </p15:clr>
        </p15:guide>
        <p15:guide id="16" pos="2993">
          <p15:clr>
            <a:srgbClr val="F26B43"/>
          </p15:clr>
        </p15:guide>
        <p15:guide id="17" pos="589">
          <p15:clr>
            <a:srgbClr val="F26B43"/>
          </p15:clr>
        </p15:guide>
        <p15:guide id="18" orient="horz" pos="79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3BDB336-A563-4833-81AB-4AFFC0DD99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66542" y="1255861"/>
            <a:ext cx="8845851" cy="1714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R="143930" indent="575719" algn="ctr">
              <a:lnSpc>
                <a:spcPts val="2240"/>
              </a:lnSpc>
              <a:spcBef>
                <a:spcPts val="0"/>
              </a:spcBef>
              <a:spcAft>
                <a:spcPts val="1067"/>
              </a:spcAft>
            </a:pPr>
            <a:r>
              <a:rPr lang="ru-RU" sz="1867" dirty="0">
                <a:solidFill>
                  <a:schemeClr val="bg2">
                    <a:lumMod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70" b="0" i="0" dirty="0">
                <a:solidFill>
                  <a:schemeClr val="bg2">
                    <a:lumMod val="25000"/>
                  </a:schemeClr>
                </a:solidFill>
                <a:effectLst/>
              </a:rPr>
              <a:t>это наука, которая помогает сделать рабочее место удобным и безопасным. Она учитывает физические данные работника (рост, силу, длину конечностей и др.), а также его умственную деятельность (то как он думает и воспринимает информацию) и эмоциональную сферу (например, работа в состоянии стресса).</a:t>
            </a:r>
            <a:endParaRPr lang="ru-RU" sz="1870" cap="all" spc="67" dirty="0">
              <a:solidFill>
                <a:schemeClr val="bg2">
                  <a:lumMod val="25000"/>
                </a:schemeClr>
              </a:solidFill>
              <a:ea typeface="+mj-ea"/>
              <a:cs typeface="+mj-cs"/>
            </a:endParaRPr>
          </a:p>
          <a:p>
            <a:pPr algn="ctr">
              <a:lnSpc>
                <a:spcPts val="2240"/>
              </a:lnSpc>
              <a:spcBef>
                <a:spcPts val="0"/>
              </a:spcBef>
            </a:pPr>
            <a:r>
              <a:rPr sz="1867" cap="all" spc="67" dirty="0">
                <a:solidFill>
                  <a:schemeClr val="accent2"/>
                </a:solidFill>
                <a:ea typeface="+mj-ea"/>
                <a:cs typeface="+mj-cs"/>
              </a:rPr>
              <a:t>                                                </a:t>
            </a:r>
            <a:r>
              <a:rPr lang="ru-RU" sz="1867" cap="all" spc="67" dirty="0">
                <a:solidFill>
                  <a:schemeClr val="accent2"/>
                </a:solidFill>
                <a:ea typeface="+mj-ea"/>
                <a:cs typeface="+mj-cs"/>
              </a:rPr>
              <a:t>                                                              </a:t>
            </a:r>
            <a:r>
              <a:rPr sz="1867" cap="all" spc="67" dirty="0">
                <a:solidFill>
                  <a:schemeClr val="accent2"/>
                </a:solidFill>
                <a:ea typeface="+mj-ea"/>
                <a:cs typeface="+mj-cs"/>
              </a:rPr>
              <a:t> </a:t>
            </a:r>
            <a:endParaRPr lang="ru-RU" sz="1867" b="1" cap="all" spc="67" dirty="0">
              <a:solidFill>
                <a:schemeClr val="accent2"/>
              </a:solidFill>
              <a:ea typeface="+mj-ea"/>
              <a:cs typeface="+mj-cs"/>
            </a:endParaRPr>
          </a:p>
        </p:txBody>
      </p:sp>
      <p:sp>
        <p:nvSpPr>
          <p:cNvPr id="10" name="Rectangle 51">
            <a:extLst>
              <a:ext uri="{FF2B5EF4-FFF2-40B4-BE49-F238E27FC236}">
                <a16:creationId xmlns:a16="http://schemas.microsoft.com/office/drawing/2014/main" id="{92885204-F8C4-4B69-8010-9F36DC878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988" y="4494429"/>
            <a:ext cx="1254638" cy="861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Сохранить</a:t>
            </a:r>
          </a:p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 здоровье</a:t>
            </a:r>
            <a:r>
              <a:rPr lang="fr-FR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 </a:t>
            </a:r>
            <a:endParaRPr lang="ru-RU" sz="1867" dirty="0">
              <a:solidFill>
                <a:srgbClr val="E7E8EA">
                  <a:lumMod val="25000"/>
                </a:srgbClr>
              </a:solidFill>
              <a:latin typeface="Arial" panose="020B0604020202020204"/>
            </a:endParaRPr>
          </a:p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 персонала</a:t>
            </a:r>
            <a:endParaRPr lang="fr-FR" sz="1867" dirty="0">
              <a:solidFill>
                <a:srgbClr val="E7E8EA">
                  <a:lumMod val="25000"/>
                </a:srgbClr>
              </a:solidFill>
              <a:latin typeface="Arial" panose="020B0604020202020204"/>
            </a:endParaRPr>
          </a:p>
        </p:txBody>
      </p:sp>
      <p:sp>
        <p:nvSpPr>
          <p:cNvPr id="11" name="Rectangle 51">
            <a:extLst>
              <a:ext uri="{FF2B5EF4-FFF2-40B4-BE49-F238E27FC236}">
                <a16:creationId xmlns:a16="http://schemas.microsoft.com/office/drawing/2014/main" id="{4F2F1DDB-B423-435E-A6DA-48CC8C6F7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6060" y="4350767"/>
            <a:ext cx="2160000" cy="114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Предложить</a:t>
            </a:r>
          </a:p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комфортные и безопасные</a:t>
            </a:r>
          </a:p>
          <a:p>
            <a:pPr algn="ctr" defTabSz="914377">
              <a:defRPr/>
            </a:pPr>
            <a:r>
              <a:rPr lang="ru-RU" sz="1867" dirty="0">
                <a:solidFill>
                  <a:srgbClr val="E7E8EA">
                    <a:lumMod val="25000"/>
                  </a:srgbClr>
                </a:solidFill>
                <a:latin typeface="Arial" panose="020B0604020202020204"/>
              </a:rPr>
              <a:t> условия работы</a:t>
            </a:r>
            <a:endParaRPr lang="fr-FR" sz="1867" dirty="0">
              <a:solidFill>
                <a:srgbClr val="E7E8EA">
                  <a:lumMod val="25000"/>
                </a:srgbClr>
              </a:solidFill>
              <a:latin typeface="Arial" panose="020B0604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9CD65-F4FB-4C15-9462-088B5E51F61B}"/>
              </a:ext>
            </a:extLst>
          </p:cNvPr>
          <p:cNvSpPr txBox="1"/>
          <p:nvPr/>
        </p:nvSpPr>
        <p:spPr>
          <a:xfrm>
            <a:off x="471894" y="580447"/>
            <a:ext cx="6096000" cy="3323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800" b="1" cap="none" spc="50" baseline="0">
                <a:solidFill>
                  <a:srgbClr val="F5671E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/>
            <a:r>
              <a:rPr lang="ru-RU" sz="2400" spc="67" dirty="0">
                <a:solidFill>
                  <a:srgbClr val="F56727"/>
                </a:solidFill>
                <a:latin typeface="Arial" panose="020B0604020202020204"/>
              </a:rPr>
              <a:t>ЭРГОНОМИКА -</a:t>
            </a:r>
            <a:r>
              <a:rPr lang="en-US" sz="2400" spc="67" dirty="0">
                <a:solidFill>
                  <a:srgbClr val="F56727"/>
                </a:solidFill>
                <a:latin typeface="Arial" panose="020B0604020202020204"/>
              </a:rPr>
              <a:t> </a:t>
            </a:r>
            <a:endParaRPr lang="ru-RU" sz="2400" spc="67" dirty="0">
              <a:solidFill>
                <a:srgbClr val="F56727"/>
              </a:solidFill>
              <a:latin typeface="Arial" panose="020B06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871A5-CF63-40FF-B292-99064F0EEC00}"/>
              </a:ext>
            </a:extLst>
          </p:cNvPr>
          <p:cNvSpPr txBox="1"/>
          <p:nvPr/>
        </p:nvSpPr>
        <p:spPr>
          <a:xfrm>
            <a:off x="471894" y="3118062"/>
            <a:ext cx="6096000" cy="29540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800" b="1" cap="none" spc="50" baseline="0">
                <a:solidFill>
                  <a:srgbClr val="F5671E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/>
            <a:r>
              <a:rPr lang="ru-RU" sz="2133" spc="67" dirty="0">
                <a:solidFill>
                  <a:srgbClr val="F56727"/>
                </a:solidFill>
                <a:latin typeface="Arial" panose="020B0604020202020204"/>
              </a:rPr>
              <a:t>ЦЕЛЬ ЭРГОНОМИКИ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0256CE-1F84-4973-9ED5-B57F91E3A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47" y="3413464"/>
            <a:ext cx="3123643" cy="3123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019" y="1909144"/>
            <a:ext cx="5625708" cy="2618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9" name="Rectangle 28"/>
          <p:cNvSpPr>
            <a:spLocks noChangeArrowheads="1"/>
          </p:cNvSpPr>
          <p:nvPr/>
        </p:nvSpPr>
        <p:spPr bwMode="auto">
          <a:xfrm>
            <a:off x="2005014" y="5887571"/>
            <a:ext cx="18473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fr-FR" altLang="ru-RU" sz="1000" b="0" dirty="0">
                <a:cs typeface="Times New Roman" panose="02020603050405020304" pitchFamily="18" charset="0"/>
              </a:rPr>
            </a:br>
            <a:endParaRPr lang="fr-FR" altLang="ru-RU" sz="1800" b="0" dirty="0">
              <a:cs typeface="Times New Roman" panose="02020603050405020304" pitchFamily="18" charset="0"/>
            </a:endParaRPr>
          </a:p>
        </p:txBody>
      </p:sp>
      <p:pic>
        <p:nvPicPr>
          <p:cNvPr id="59428" name="Picture 7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4470401"/>
            <a:ext cx="1854200" cy="180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30" name="Picture 7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438" y="4470401"/>
            <a:ext cx="958851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29" name="Picture 7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973" y="4700438"/>
            <a:ext cx="1231900" cy="8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31" name="Picture 7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905" y="4474063"/>
            <a:ext cx="1300163" cy="1417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3615" name="Group 79"/>
          <p:cNvGraphicFramePr>
            <a:graphicFrameLocks noGrp="1"/>
          </p:cNvGraphicFramePr>
          <p:nvPr/>
        </p:nvGraphicFramePr>
        <p:xfrm>
          <a:off x="5076825" y="3756026"/>
          <a:ext cx="563563" cy="274639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73" marB="4577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34" name="Rectangle 85"/>
          <p:cNvSpPr>
            <a:spLocks noChangeArrowheads="1"/>
          </p:cNvSpPr>
          <p:nvPr/>
        </p:nvSpPr>
        <p:spPr bwMode="auto">
          <a:xfrm>
            <a:off x="9463195" y="4537631"/>
            <a:ext cx="133010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ru-RU" sz="1400" b="0" dirty="0">
                <a:latin typeface="+mj-lt"/>
              </a:rPr>
              <a:t>2 заглушки</a:t>
            </a:r>
            <a:endParaRPr lang="fr-FR" altLang="ru-RU" sz="1400" b="0" dirty="0">
              <a:latin typeface="+mj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ru-RU" sz="1400" b="0" dirty="0">
                <a:latin typeface="+mj-lt"/>
              </a:rPr>
              <a:t>Вставлять</a:t>
            </a:r>
            <a:endParaRPr lang="en-US" altLang="ru-RU" sz="1400" b="0" dirty="0">
              <a:latin typeface="+mj-lt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ru-RU" sz="1400" b="0" dirty="0">
                <a:latin typeface="+mj-lt"/>
              </a:rPr>
              <a:t> очень трудно</a:t>
            </a:r>
          </a:p>
        </p:txBody>
      </p:sp>
      <p:graphicFrame>
        <p:nvGraphicFramePr>
          <p:cNvPr id="833622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38035"/>
              </p:ext>
            </p:extLst>
          </p:nvPr>
        </p:nvGraphicFramePr>
        <p:xfrm>
          <a:off x="4838700" y="5675313"/>
          <a:ext cx="1600200" cy="7316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2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 разных наименований без обозначений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73" marB="45773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37" name="Rectangle 92"/>
          <p:cNvSpPr>
            <a:spLocks noChangeArrowheads="1"/>
          </p:cNvSpPr>
          <p:nvPr/>
        </p:nvSpPr>
        <p:spPr bwMode="auto">
          <a:xfrm>
            <a:off x="5354639" y="3350438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br>
              <a:rPr lang="fr-FR" altLang="ru-RU" sz="1200" b="0" dirty="0">
                <a:latin typeface="Arial Narrow" panose="020B0606020202030204" pitchFamily="34" charset="0"/>
              </a:rPr>
            </a:br>
            <a:endParaRPr lang="fr-FR" altLang="ru-RU" sz="1800" b="0" dirty="0"/>
          </a:p>
        </p:txBody>
      </p:sp>
      <p:graphicFrame>
        <p:nvGraphicFramePr>
          <p:cNvPr id="833629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34841"/>
              </p:ext>
            </p:extLst>
          </p:nvPr>
        </p:nvGraphicFramePr>
        <p:xfrm>
          <a:off x="7085012" y="4566784"/>
          <a:ext cx="1135710" cy="430120"/>
        </p:xfrm>
        <a:graphic>
          <a:graphicData uri="http://schemas.openxmlformats.org/drawingml/2006/table">
            <a:tbl>
              <a:tblPr/>
              <a:tblGrid>
                <a:gridCol w="113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12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Вес дет. = 3 кг</a:t>
                      </a:r>
                      <a:endParaRPr kumimoji="0" lang="ru-RU" altLang="ru-RU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40" name="Rectangle 99"/>
          <p:cNvSpPr>
            <a:spLocks noChangeArrowheads="1"/>
          </p:cNvSpPr>
          <p:nvPr/>
        </p:nvSpPr>
        <p:spPr bwMode="auto">
          <a:xfrm>
            <a:off x="5822951" y="362348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br>
              <a:rPr lang="fr-FR" altLang="ru-RU" sz="1200" b="0" dirty="0">
                <a:latin typeface="Arial Narrow" panose="020B0606020202030204" pitchFamily="34" charset="0"/>
              </a:rPr>
            </a:br>
            <a:endParaRPr lang="fr-FR" altLang="ru-RU" sz="1800" b="0" dirty="0"/>
          </a:p>
        </p:txBody>
      </p:sp>
      <p:graphicFrame>
        <p:nvGraphicFramePr>
          <p:cNvPr id="833636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68341"/>
              </p:ext>
            </p:extLst>
          </p:nvPr>
        </p:nvGraphicFramePr>
        <p:xfrm>
          <a:off x="3884612" y="4525965"/>
          <a:ext cx="823913" cy="490537"/>
        </p:xfrm>
        <a:graphic>
          <a:graphicData uri="http://schemas.openxmlformats.org/drawingml/2006/table">
            <a:tbl>
              <a:tblPr/>
              <a:tblGrid>
                <a:gridCol w="82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5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Вес</a:t>
                      </a:r>
                      <a:r>
                        <a:rPr kumimoji="0" lang="fr-FR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дет</a:t>
                      </a:r>
                      <a:r>
                        <a:rPr kumimoji="0" lang="fr-FR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. = </a:t>
                      </a:r>
                      <a:r>
                        <a:rPr kumimoji="0" lang="ru-RU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15,3</a:t>
                      </a:r>
                      <a:r>
                        <a:rPr kumimoji="0" lang="fr-FR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кг</a:t>
                      </a:r>
                      <a:endParaRPr kumimoji="0" lang="ru-RU" altLang="ru-RU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43" name="Rectangle 106"/>
          <p:cNvSpPr>
            <a:spLocks noChangeArrowheads="1"/>
          </p:cNvSpPr>
          <p:nvPr/>
        </p:nvSpPr>
        <p:spPr bwMode="auto">
          <a:xfrm>
            <a:off x="5819777" y="362348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br>
              <a:rPr lang="fr-FR" altLang="ru-RU" sz="1200" b="0" dirty="0">
                <a:latin typeface="Arial Narrow" panose="020B0606020202030204" pitchFamily="34" charset="0"/>
              </a:rPr>
            </a:br>
            <a:endParaRPr lang="fr-FR" altLang="ru-RU" sz="1800" b="0" dirty="0"/>
          </a:p>
        </p:txBody>
      </p:sp>
      <p:graphicFrame>
        <p:nvGraphicFramePr>
          <p:cNvPr id="833643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65283"/>
              </p:ext>
            </p:extLst>
          </p:nvPr>
        </p:nvGraphicFramePr>
        <p:xfrm>
          <a:off x="1967558" y="3850561"/>
          <a:ext cx="1712469" cy="502291"/>
        </p:xfrm>
        <a:graphic>
          <a:graphicData uri="http://schemas.openxmlformats.org/drawingml/2006/table">
            <a:tbl>
              <a:tblPr/>
              <a:tblGrid>
                <a:gridCol w="1712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29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Продолжительность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операций</a:t>
                      </a: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405" marB="45405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46" name="Rectangle 113"/>
          <p:cNvSpPr>
            <a:spLocks noChangeArrowheads="1"/>
          </p:cNvSpPr>
          <p:nvPr/>
        </p:nvSpPr>
        <p:spPr bwMode="auto">
          <a:xfrm>
            <a:off x="5788026" y="341076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br>
              <a:rPr lang="fr-FR" altLang="ru-RU" sz="1200" b="0" dirty="0">
                <a:latin typeface="Arial Narrow" panose="020B0606020202030204" pitchFamily="34" charset="0"/>
              </a:rPr>
            </a:br>
            <a:endParaRPr lang="fr-FR" altLang="ru-RU" sz="1800" b="0" dirty="0"/>
          </a:p>
        </p:txBody>
      </p:sp>
      <p:sp>
        <p:nvSpPr>
          <p:cNvPr id="59447" name="Rectangle 114"/>
          <p:cNvSpPr>
            <a:spLocks noChangeArrowheads="1"/>
          </p:cNvSpPr>
          <p:nvPr/>
        </p:nvSpPr>
        <p:spPr bwMode="auto">
          <a:xfrm>
            <a:off x="1524002" y="72325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ru-RU" altLang="ru-RU" sz="2400" b="0" dirty="0"/>
          </a:p>
        </p:txBody>
      </p:sp>
      <p:sp>
        <p:nvSpPr>
          <p:cNvPr id="59448" name="Rectangle 115"/>
          <p:cNvSpPr>
            <a:spLocks noChangeArrowheads="1"/>
          </p:cNvSpPr>
          <p:nvPr/>
        </p:nvSpPr>
        <p:spPr bwMode="auto">
          <a:xfrm>
            <a:off x="1524002" y="1870188"/>
            <a:ext cx="2089008" cy="5214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400" b="0" dirty="0">
                <a:latin typeface="+mj-lt"/>
                <a:cs typeface="Times New Roman" panose="02020603050405020304" pitchFamily="18" charset="0"/>
              </a:rPr>
              <a:t>Установка проводов</a:t>
            </a:r>
            <a:r>
              <a:rPr lang="ru-RU" altLang="ru-RU" sz="14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en-US" altLang="ru-RU" sz="1400" b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400" b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с небольшим усилием</a:t>
            </a:r>
            <a:endParaRPr lang="ru-RU" altLang="ru-RU" sz="1400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9450" name="Rectangle 117"/>
          <p:cNvSpPr>
            <a:spLocks noChangeArrowheads="1"/>
          </p:cNvSpPr>
          <p:nvPr/>
        </p:nvSpPr>
        <p:spPr bwMode="auto">
          <a:xfrm>
            <a:off x="3680026" y="1470917"/>
            <a:ext cx="50617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ru-RU" sz="1400" dirty="0">
                <a:latin typeface="Arial Narrow" panose="020B0606020202030204" pitchFamily="34" charset="0"/>
              </a:rPr>
              <a:t>Время цикла = 1 мин. Производительность = 60 авт./ час. Загрузка 99%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fr-FR" altLang="ru-RU" sz="1600" b="0" dirty="0">
              <a:latin typeface="Arial Narrow" panose="020B0606020202030204" pitchFamily="34" charset="0"/>
            </a:endParaRPr>
          </a:p>
        </p:txBody>
      </p:sp>
      <p:graphicFrame>
        <p:nvGraphicFramePr>
          <p:cNvPr id="833655" name="Group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916685"/>
              </p:ext>
            </p:extLst>
          </p:nvPr>
        </p:nvGraphicFramePr>
        <p:xfrm>
          <a:off x="8677807" y="4035591"/>
          <a:ext cx="366712" cy="233680"/>
        </p:xfrm>
        <a:graphic>
          <a:graphicData uri="http://schemas.openxmlformats.org/drawingml/2006/table">
            <a:tbl>
              <a:tblPr/>
              <a:tblGrid>
                <a:gridCol w="36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6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 </a:t>
                      </a:r>
                      <a:r>
                        <a:rPr kumimoji="0" lang="ru-RU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</a:t>
                      </a: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3661" name="Group 125"/>
          <p:cNvGraphicFramePr>
            <a:graphicFrameLocks noGrp="1"/>
          </p:cNvGraphicFramePr>
          <p:nvPr/>
        </p:nvGraphicFramePr>
        <p:xfrm>
          <a:off x="5788026" y="3048000"/>
          <a:ext cx="615951" cy="330200"/>
        </p:xfrm>
        <a:graphic>
          <a:graphicData uri="http://schemas.openxmlformats.org/drawingml/2006/table">
            <a:tbl>
              <a:tblPr/>
              <a:tblGrid>
                <a:gridCol w="61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2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456" name="Rectangle 131"/>
          <p:cNvSpPr>
            <a:spLocks noChangeArrowheads="1"/>
          </p:cNvSpPr>
          <p:nvPr/>
        </p:nvSpPr>
        <p:spPr bwMode="auto">
          <a:xfrm>
            <a:off x="5788026" y="3561577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br>
              <a:rPr lang="fr-FR" altLang="ru-RU" sz="1200" b="0" dirty="0">
                <a:latin typeface="Arial Narrow" panose="020B0606020202030204" pitchFamily="34" charset="0"/>
              </a:rPr>
            </a:br>
            <a:endParaRPr lang="fr-FR" altLang="ru-RU" sz="1800" b="0" dirty="0"/>
          </a:p>
        </p:txBody>
      </p:sp>
      <p:graphicFrame>
        <p:nvGraphicFramePr>
          <p:cNvPr id="833668" name="Group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018488"/>
              </p:ext>
            </p:extLst>
          </p:nvPr>
        </p:nvGraphicFramePr>
        <p:xfrm>
          <a:off x="6139014" y="3977798"/>
          <a:ext cx="465719" cy="233680"/>
        </p:xfrm>
        <a:graphic>
          <a:graphicData uri="http://schemas.openxmlformats.org/drawingml/2006/table">
            <a:tbl>
              <a:tblPr/>
              <a:tblGrid>
                <a:gridCol w="46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6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7 </a:t>
                      </a:r>
                      <a:r>
                        <a:rPr kumimoji="0" lang="ru-RU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</a:t>
                      </a: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3674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4066"/>
              </p:ext>
            </p:extLst>
          </p:nvPr>
        </p:nvGraphicFramePr>
        <p:xfrm>
          <a:off x="5294314" y="3973267"/>
          <a:ext cx="458787" cy="233680"/>
        </p:xfrm>
        <a:graphic>
          <a:graphicData uri="http://schemas.openxmlformats.org/drawingml/2006/table">
            <a:tbl>
              <a:tblPr/>
              <a:tblGrid>
                <a:gridCol w="45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6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ru-RU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 </a:t>
                      </a:r>
                      <a:r>
                        <a:rPr kumimoji="0" lang="ru-RU" altLang="ru-RU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</a:t>
                      </a: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3680" name="Group 1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635142"/>
              </p:ext>
            </p:extLst>
          </p:nvPr>
        </p:nvGraphicFramePr>
        <p:xfrm>
          <a:off x="3802320" y="4060647"/>
          <a:ext cx="447675" cy="233680"/>
        </p:xfrm>
        <a:graphic>
          <a:graphicData uri="http://schemas.openxmlformats.org/drawingml/2006/table">
            <a:tbl>
              <a:tblPr/>
              <a:tblGrid>
                <a:gridCol w="44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68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30000"/>
                        </a:spcBef>
                        <a:buClr>
                          <a:srgbClr val="F7B100"/>
                        </a:buClr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35000"/>
                        </a:spcBef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40000"/>
                        </a:spcBef>
                        <a:buFont typeface="Wingdings" pitchFamily="2" charset="2"/>
                        <a:defRPr sz="10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7B1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30 с</a:t>
                      </a: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AD528-6958-4934-B197-D5EACE98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/>
            <a:r>
              <a:rPr lang="ru-RU" sz="2400" spc="67" dirty="0">
                <a:solidFill>
                  <a:srgbClr val="F56727"/>
                </a:solidFill>
                <a:latin typeface="Arial" panose="020B0604020202020204"/>
              </a:rPr>
              <a:t>КЛАССИФИКАЦИЯ РАБОЧИХ МЕСТ ПО ЭРГОНОМИКЕ:</a:t>
            </a:r>
          </a:p>
        </p:txBody>
      </p:sp>
      <p:sp>
        <p:nvSpPr>
          <p:cNvPr id="51" name="Titre 2">
            <a:extLst>
              <a:ext uri="{FF2B5EF4-FFF2-40B4-BE49-F238E27FC236}">
                <a16:creationId xmlns:a16="http://schemas.microsoft.com/office/drawing/2014/main" id="{6C582EAE-0036-494A-8E70-ED7F88F13846}"/>
              </a:ext>
            </a:extLst>
          </p:cNvPr>
          <p:cNvSpPr txBox="1">
            <a:spLocks/>
          </p:cNvSpPr>
          <p:nvPr/>
        </p:nvSpPr>
        <p:spPr>
          <a:xfrm>
            <a:off x="389335" y="592619"/>
            <a:ext cx="3290691" cy="4616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 cap="all" spc="50" baseline="0">
                <a:solidFill>
                  <a:srgbClr val="F5671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rgbClr val="FF0000"/>
                </a:solidFill>
              </a:rPr>
              <a:t>Красное рабочее место</a:t>
            </a:r>
          </a:p>
          <a:p>
            <a:r>
              <a:rPr lang="ru-RU" sz="1200" b="1" dirty="0">
                <a:solidFill>
                  <a:srgbClr val="FF0000"/>
                </a:solidFill>
              </a:rPr>
              <a:t>(с тяжелыми (опасными) условиями труда):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E843665F-A273-4319-AA48-EA7298AE4E6A}"/>
              </a:ext>
            </a:extLst>
          </p:cNvPr>
          <p:cNvSpPr/>
          <p:nvPr/>
        </p:nvSpPr>
        <p:spPr>
          <a:xfrm>
            <a:off x="3122146" y="1942643"/>
            <a:ext cx="1227912" cy="83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FD9AD5A-9C85-4810-A665-4E9CBD6383EC}"/>
              </a:ext>
            </a:extLst>
          </p:cNvPr>
          <p:cNvSpPr/>
          <p:nvPr/>
        </p:nvSpPr>
        <p:spPr>
          <a:xfrm>
            <a:off x="8170228" y="2558270"/>
            <a:ext cx="1227912" cy="83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544B50C-59DB-44F9-9192-03BD15C61BD2}"/>
              </a:ext>
            </a:extLst>
          </p:cNvPr>
          <p:cNvSpPr/>
          <p:nvPr/>
        </p:nvSpPr>
        <p:spPr>
          <a:xfrm>
            <a:off x="4655420" y="2378369"/>
            <a:ext cx="1227912" cy="83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BEE4E1C6-71A3-4BAD-817F-BBAF4A5A3AAF}"/>
              </a:ext>
            </a:extLst>
          </p:cNvPr>
          <p:cNvSpPr/>
          <p:nvPr/>
        </p:nvSpPr>
        <p:spPr>
          <a:xfrm>
            <a:off x="3711255" y="4373526"/>
            <a:ext cx="1127445" cy="7316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3E364D75-0A04-49FC-B355-F3CACD1BD05F}"/>
              </a:ext>
            </a:extLst>
          </p:cNvPr>
          <p:cNvSpPr/>
          <p:nvPr/>
        </p:nvSpPr>
        <p:spPr>
          <a:xfrm>
            <a:off x="4830192" y="4454888"/>
            <a:ext cx="1807354" cy="1310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48DB30D-C8E6-4A2E-AEFE-6CA1CFE9B1A8}"/>
              </a:ext>
            </a:extLst>
          </p:cNvPr>
          <p:cNvSpPr/>
          <p:nvPr/>
        </p:nvSpPr>
        <p:spPr>
          <a:xfrm>
            <a:off x="5819777" y="2059107"/>
            <a:ext cx="1161139" cy="847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5D64EEB6-35F0-4A09-85C7-00B9BC62F66D}"/>
              </a:ext>
            </a:extLst>
          </p:cNvPr>
          <p:cNvSpPr/>
          <p:nvPr/>
        </p:nvSpPr>
        <p:spPr>
          <a:xfrm>
            <a:off x="6989782" y="4284940"/>
            <a:ext cx="1227912" cy="8309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F4F7927-731B-44C7-B58B-3CC889FB568C}"/>
              </a:ext>
            </a:extLst>
          </p:cNvPr>
          <p:cNvCxnSpPr>
            <a:stCxn id="34" idx="5"/>
            <a:endCxn id="35" idx="0"/>
          </p:cNvCxnSpPr>
          <p:nvPr/>
        </p:nvCxnSpPr>
        <p:spPr>
          <a:xfrm>
            <a:off x="6810871" y="2782767"/>
            <a:ext cx="792867" cy="150217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Овал 37">
            <a:extLst>
              <a:ext uri="{FF2B5EF4-FFF2-40B4-BE49-F238E27FC236}">
                <a16:creationId xmlns:a16="http://schemas.microsoft.com/office/drawing/2014/main" id="{1725189D-EA57-43A0-B6F9-C506AB2B3708}"/>
              </a:ext>
            </a:extLst>
          </p:cNvPr>
          <p:cNvSpPr/>
          <p:nvPr/>
        </p:nvSpPr>
        <p:spPr>
          <a:xfrm>
            <a:off x="8289638" y="4294327"/>
            <a:ext cx="1227912" cy="1777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F1BF0-E2EA-4377-8927-1B8AA1D7F46D}"/>
              </a:ext>
            </a:extLst>
          </p:cNvPr>
          <p:cNvSpPr txBox="1"/>
          <p:nvPr/>
        </p:nvSpPr>
        <p:spPr>
          <a:xfrm>
            <a:off x="3372594" y="558799"/>
            <a:ext cx="856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Положение тела – наклоны, руки над головой, руки на уровне головы (с грузом более 2 кг), сильный сгиб кисти руки и др. (более 100 положений в час)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Усилие – подъём и перемещение тяжестей более 15 кг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Большое количество разновидностей деталей без обозначений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2164446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7" name="Rectangle 114"/>
          <p:cNvSpPr>
            <a:spLocks noChangeArrowheads="1"/>
          </p:cNvSpPr>
          <p:nvPr/>
        </p:nvSpPr>
        <p:spPr bwMode="auto">
          <a:xfrm>
            <a:off x="1524002" y="72325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ru-RU" altLang="ru-RU" sz="2400" b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AD528-6958-4934-B197-D5EACE98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/>
            <a:r>
              <a:rPr lang="ru-RU" sz="2400" spc="67" dirty="0">
                <a:solidFill>
                  <a:srgbClr val="F56727"/>
                </a:solidFill>
                <a:latin typeface="Arial" panose="020B0604020202020204"/>
              </a:rPr>
              <a:t>КЛАССИФИКАЦИЯ РАБОЧИХ МЕСТ ПО ЭРГОНОМИКЕ:</a:t>
            </a:r>
          </a:p>
        </p:txBody>
      </p:sp>
      <p:sp>
        <p:nvSpPr>
          <p:cNvPr id="51" name="Titre 2">
            <a:extLst>
              <a:ext uri="{FF2B5EF4-FFF2-40B4-BE49-F238E27FC236}">
                <a16:creationId xmlns:a16="http://schemas.microsoft.com/office/drawing/2014/main" id="{6C582EAE-0036-494A-8E70-ED7F88F13846}"/>
              </a:ext>
            </a:extLst>
          </p:cNvPr>
          <p:cNvSpPr txBox="1">
            <a:spLocks/>
          </p:cNvSpPr>
          <p:nvPr/>
        </p:nvSpPr>
        <p:spPr>
          <a:xfrm>
            <a:off x="389335" y="592619"/>
            <a:ext cx="3290691" cy="4616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kern="1200" cap="all" spc="50" baseline="0">
                <a:solidFill>
                  <a:srgbClr val="F5671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rgbClr val="FFC000"/>
                </a:solidFill>
              </a:rPr>
              <a:t>Желтое рабочее место</a:t>
            </a:r>
          </a:p>
          <a:p>
            <a:r>
              <a:rPr lang="ru-RU" sz="1200" b="1" dirty="0">
                <a:solidFill>
                  <a:srgbClr val="FFC000"/>
                </a:solidFill>
              </a:rPr>
              <a:t>(с условиями труда средней (допустимой) тяжести):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F1BF0-E2EA-4377-8927-1B8AA1D7F46D}"/>
              </a:ext>
            </a:extLst>
          </p:cNvPr>
          <p:cNvSpPr txBox="1"/>
          <p:nvPr/>
        </p:nvSpPr>
        <p:spPr>
          <a:xfrm>
            <a:off x="3266933" y="567084"/>
            <a:ext cx="8560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Положение тела – наклоны (до 100 положений в час)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Усилие – подъём и перемещение тяжестей 7 – 15 кг</a:t>
            </a: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8FB80FF5-F300-4D6A-A751-19BC3755D05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226" y="3355759"/>
            <a:ext cx="1017145" cy="206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0" name="Group 5">
            <a:extLst>
              <a:ext uri="{FF2B5EF4-FFF2-40B4-BE49-F238E27FC236}">
                <a16:creationId xmlns:a16="http://schemas.microsoft.com/office/drawing/2014/main" id="{E3E2D9A3-0DB5-4AEC-892E-D36D201D1E67}"/>
              </a:ext>
            </a:extLst>
          </p:cNvPr>
          <p:cNvGrpSpPr>
            <a:grpSpLocks/>
          </p:cNvGrpSpPr>
          <p:nvPr/>
        </p:nvGrpSpPr>
        <p:grpSpPr bwMode="auto">
          <a:xfrm>
            <a:off x="2851167" y="4434765"/>
            <a:ext cx="551889" cy="281339"/>
            <a:chOff x="1229" y="2354"/>
            <a:chExt cx="373" cy="192"/>
          </a:xfrm>
        </p:grpSpPr>
        <p:sp>
          <p:nvSpPr>
            <p:cNvPr id="41" name="AutoShape 6">
              <a:extLst>
                <a:ext uri="{FF2B5EF4-FFF2-40B4-BE49-F238E27FC236}">
                  <a16:creationId xmlns:a16="http://schemas.microsoft.com/office/drawing/2014/main" id="{D41FCD81-4868-4EA5-8EDD-AAC118AE6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2354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2" name="Oval 7">
              <a:extLst>
                <a:ext uri="{FF2B5EF4-FFF2-40B4-BE49-F238E27FC236}">
                  <a16:creationId xmlns:a16="http://schemas.microsoft.com/office/drawing/2014/main" id="{BF6A541A-22EC-4FF5-BFE3-334B8AD89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9" y="2361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3" name="Oval 8">
              <a:extLst>
                <a:ext uri="{FF2B5EF4-FFF2-40B4-BE49-F238E27FC236}">
                  <a16:creationId xmlns:a16="http://schemas.microsoft.com/office/drawing/2014/main" id="{F1B2A866-583A-44A0-BF88-06DD41308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43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4" name="Oval 9">
              <a:extLst>
                <a:ext uri="{FF2B5EF4-FFF2-40B4-BE49-F238E27FC236}">
                  <a16:creationId xmlns:a16="http://schemas.microsoft.com/office/drawing/2014/main" id="{583498B1-F408-4638-A801-5EAC007F6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443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5" name="Oval 10">
              <a:extLst>
                <a:ext uri="{FF2B5EF4-FFF2-40B4-BE49-F238E27FC236}">
                  <a16:creationId xmlns:a16="http://schemas.microsoft.com/office/drawing/2014/main" id="{39881A96-C7EE-4323-8712-DA13AFAF9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2443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6" name="Oval 11">
              <a:extLst>
                <a:ext uri="{FF2B5EF4-FFF2-40B4-BE49-F238E27FC236}">
                  <a16:creationId xmlns:a16="http://schemas.microsoft.com/office/drawing/2014/main" id="{E6E2ADB3-5CDE-4A38-A8D1-53CF3583A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3" y="2443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7" name="Oval 12">
              <a:extLst>
                <a:ext uri="{FF2B5EF4-FFF2-40B4-BE49-F238E27FC236}">
                  <a16:creationId xmlns:a16="http://schemas.microsoft.com/office/drawing/2014/main" id="{B98E1EDD-91DE-445F-AA22-36C06E0D9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2361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8" name="Oval 13">
              <a:extLst>
                <a:ext uri="{FF2B5EF4-FFF2-40B4-BE49-F238E27FC236}">
                  <a16:creationId xmlns:a16="http://schemas.microsoft.com/office/drawing/2014/main" id="{909D2618-2C6A-40B9-BF96-B819505F5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5" y="2361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49" name="Oval 14">
              <a:extLst>
                <a:ext uri="{FF2B5EF4-FFF2-40B4-BE49-F238E27FC236}">
                  <a16:creationId xmlns:a16="http://schemas.microsoft.com/office/drawing/2014/main" id="{FF04C6F3-F9C1-466C-9B85-F74C35456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" y="2361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50" name="Rectangle 15">
            <a:extLst>
              <a:ext uri="{FF2B5EF4-FFF2-40B4-BE49-F238E27FC236}">
                <a16:creationId xmlns:a16="http://schemas.microsoft.com/office/drawing/2014/main" id="{F326BDC9-DD28-49DB-924E-26EAA701F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846" y="4727050"/>
            <a:ext cx="1861023" cy="81731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350" b="0" dirty="0">
              <a:solidFill>
                <a:srgbClr val="000000"/>
              </a:solidFill>
            </a:endParaRPr>
          </a:p>
        </p:txBody>
      </p:sp>
      <p:pic>
        <p:nvPicPr>
          <p:cNvPr id="52" name="Picture 16">
            <a:extLst>
              <a:ext uri="{FF2B5EF4-FFF2-40B4-BE49-F238E27FC236}">
                <a16:creationId xmlns:a16="http://schemas.microsoft.com/office/drawing/2014/main" id="{C995DF40-2CF2-4BDD-88B8-59953BE75CE4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442" y="3833697"/>
            <a:ext cx="1114437" cy="1580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4" name="Group 18">
            <a:extLst>
              <a:ext uri="{FF2B5EF4-FFF2-40B4-BE49-F238E27FC236}">
                <a16:creationId xmlns:a16="http://schemas.microsoft.com/office/drawing/2014/main" id="{79E662CF-2681-4F4F-B489-8DC5AE48ED5E}"/>
              </a:ext>
            </a:extLst>
          </p:cNvPr>
          <p:cNvGrpSpPr>
            <a:grpSpLocks/>
          </p:cNvGrpSpPr>
          <p:nvPr/>
        </p:nvGrpSpPr>
        <p:grpSpPr bwMode="auto">
          <a:xfrm>
            <a:off x="2117403" y="4428424"/>
            <a:ext cx="553493" cy="281339"/>
            <a:chOff x="829" y="2357"/>
            <a:chExt cx="373" cy="192"/>
          </a:xfrm>
        </p:grpSpPr>
        <p:sp>
          <p:nvSpPr>
            <p:cNvPr id="55" name="AutoShape 19">
              <a:extLst>
                <a:ext uri="{FF2B5EF4-FFF2-40B4-BE49-F238E27FC236}">
                  <a16:creationId xmlns:a16="http://schemas.microsoft.com/office/drawing/2014/main" id="{53A23497-7AD4-4E6E-B406-83E886B5A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57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56" name="Oval 20">
              <a:extLst>
                <a:ext uri="{FF2B5EF4-FFF2-40B4-BE49-F238E27FC236}">
                  <a16:creationId xmlns:a16="http://schemas.microsoft.com/office/drawing/2014/main" id="{452F9A18-5618-45AB-94AD-2827A252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57" name="Oval 21">
              <a:extLst>
                <a:ext uri="{FF2B5EF4-FFF2-40B4-BE49-F238E27FC236}">
                  <a16:creationId xmlns:a16="http://schemas.microsoft.com/office/drawing/2014/main" id="{751991B3-723B-4C92-BF82-0819B504F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58" name="Oval 22">
              <a:extLst>
                <a:ext uri="{FF2B5EF4-FFF2-40B4-BE49-F238E27FC236}">
                  <a16:creationId xmlns:a16="http://schemas.microsoft.com/office/drawing/2014/main" id="{B4DC1A83-65A8-4FD8-9208-281921B14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59" name="Oval 23">
              <a:extLst>
                <a:ext uri="{FF2B5EF4-FFF2-40B4-BE49-F238E27FC236}">
                  <a16:creationId xmlns:a16="http://schemas.microsoft.com/office/drawing/2014/main" id="{6CFB8903-CFD8-48B0-9CF2-AF0D7AA26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46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0" name="Oval 24">
              <a:extLst>
                <a:ext uri="{FF2B5EF4-FFF2-40B4-BE49-F238E27FC236}">
                  <a16:creationId xmlns:a16="http://schemas.microsoft.com/office/drawing/2014/main" id="{99860406-50AB-4DF2-8951-2D2DC9AB0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1" name="Oval 25">
              <a:extLst>
                <a:ext uri="{FF2B5EF4-FFF2-40B4-BE49-F238E27FC236}">
                  <a16:creationId xmlns:a16="http://schemas.microsoft.com/office/drawing/2014/main" id="{75AC4D70-E024-459A-9704-1AF2B606F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2364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2" name="Oval 26">
              <a:extLst>
                <a:ext uri="{FF2B5EF4-FFF2-40B4-BE49-F238E27FC236}">
                  <a16:creationId xmlns:a16="http://schemas.microsoft.com/office/drawing/2014/main" id="{59C12620-B719-48AF-98C4-46EB12077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3" name="Oval 27">
              <a:extLst>
                <a:ext uri="{FF2B5EF4-FFF2-40B4-BE49-F238E27FC236}">
                  <a16:creationId xmlns:a16="http://schemas.microsoft.com/office/drawing/2014/main" id="{270CD9EC-FFEC-411F-B038-7F0E6EEE3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4" name="Group 28">
            <a:extLst>
              <a:ext uri="{FF2B5EF4-FFF2-40B4-BE49-F238E27FC236}">
                <a16:creationId xmlns:a16="http://schemas.microsoft.com/office/drawing/2014/main" id="{36C05D68-3C53-48D7-BD27-4D122C580E55}"/>
              </a:ext>
            </a:extLst>
          </p:cNvPr>
          <p:cNvGrpSpPr>
            <a:grpSpLocks/>
          </p:cNvGrpSpPr>
          <p:nvPr/>
        </p:nvGrpSpPr>
        <p:grpSpPr bwMode="auto">
          <a:xfrm>
            <a:off x="1368447" y="4429878"/>
            <a:ext cx="551889" cy="281339"/>
            <a:chOff x="429" y="2357"/>
            <a:chExt cx="373" cy="192"/>
          </a:xfrm>
        </p:grpSpPr>
        <p:sp>
          <p:nvSpPr>
            <p:cNvPr id="65" name="AutoShape 29">
              <a:extLst>
                <a:ext uri="{FF2B5EF4-FFF2-40B4-BE49-F238E27FC236}">
                  <a16:creationId xmlns:a16="http://schemas.microsoft.com/office/drawing/2014/main" id="{A788B611-F1EC-45B7-B76D-938080EF5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2357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6" name="Oval 30">
              <a:extLst>
                <a:ext uri="{FF2B5EF4-FFF2-40B4-BE49-F238E27FC236}">
                  <a16:creationId xmlns:a16="http://schemas.microsoft.com/office/drawing/2014/main" id="{3ADBE891-1FF1-4681-8E18-2C92B1314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7" name="Oval 31">
              <a:extLst>
                <a:ext uri="{FF2B5EF4-FFF2-40B4-BE49-F238E27FC236}">
                  <a16:creationId xmlns:a16="http://schemas.microsoft.com/office/drawing/2014/main" id="{A43B14A0-69E3-4E82-AFB9-FC0CF429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8" name="Oval 32">
              <a:extLst>
                <a:ext uri="{FF2B5EF4-FFF2-40B4-BE49-F238E27FC236}">
                  <a16:creationId xmlns:a16="http://schemas.microsoft.com/office/drawing/2014/main" id="{4593DA57-2A66-4C4C-BDD0-F0B593081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69" name="Oval 33">
              <a:extLst>
                <a:ext uri="{FF2B5EF4-FFF2-40B4-BE49-F238E27FC236}">
                  <a16:creationId xmlns:a16="http://schemas.microsoft.com/office/drawing/2014/main" id="{B77CA54B-FE6B-47D9-8203-C30134FCD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2446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0" name="Oval 34">
              <a:extLst>
                <a:ext uri="{FF2B5EF4-FFF2-40B4-BE49-F238E27FC236}">
                  <a16:creationId xmlns:a16="http://schemas.microsoft.com/office/drawing/2014/main" id="{F233D172-FF1F-4073-83CC-A4C609DB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" y="2446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1" name="Oval 35">
              <a:extLst>
                <a:ext uri="{FF2B5EF4-FFF2-40B4-BE49-F238E27FC236}">
                  <a16:creationId xmlns:a16="http://schemas.microsoft.com/office/drawing/2014/main" id="{A92F4B12-0308-41C6-838B-7505C3477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2364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2" name="Oval 36">
              <a:extLst>
                <a:ext uri="{FF2B5EF4-FFF2-40B4-BE49-F238E27FC236}">
                  <a16:creationId xmlns:a16="http://schemas.microsoft.com/office/drawing/2014/main" id="{3E92CDB3-D1E7-4FDC-AEBE-27789C99A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3" name="Oval 37">
              <a:extLst>
                <a:ext uri="{FF2B5EF4-FFF2-40B4-BE49-F238E27FC236}">
                  <a16:creationId xmlns:a16="http://schemas.microsoft.com/office/drawing/2014/main" id="{57AE4FBD-5D5D-4300-8FD2-419B2A254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" y="2364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4" name="Group 38">
            <a:extLst>
              <a:ext uri="{FF2B5EF4-FFF2-40B4-BE49-F238E27FC236}">
                <a16:creationId xmlns:a16="http://schemas.microsoft.com/office/drawing/2014/main" id="{F34AEF90-73D1-4CE7-BF75-85B0DE1B37A9}"/>
              </a:ext>
            </a:extLst>
          </p:cNvPr>
          <p:cNvGrpSpPr>
            <a:grpSpLocks/>
          </p:cNvGrpSpPr>
          <p:nvPr/>
        </p:nvGrpSpPr>
        <p:grpSpPr bwMode="auto">
          <a:xfrm>
            <a:off x="8055562" y="4604431"/>
            <a:ext cx="535427" cy="276772"/>
            <a:chOff x="4890" y="2639"/>
            <a:chExt cx="373" cy="192"/>
          </a:xfrm>
        </p:grpSpPr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FF8FD272-9AAA-458A-862F-6D1BA566F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639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6" name="Oval 40">
              <a:extLst>
                <a:ext uri="{FF2B5EF4-FFF2-40B4-BE49-F238E27FC236}">
                  <a16:creationId xmlns:a16="http://schemas.microsoft.com/office/drawing/2014/main" id="{93A9001C-D3E3-4F68-B46B-DAF55E217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7" name="Oval 41">
              <a:extLst>
                <a:ext uri="{FF2B5EF4-FFF2-40B4-BE49-F238E27FC236}">
                  <a16:creationId xmlns:a16="http://schemas.microsoft.com/office/drawing/2014/main" id="{18B1D37D-87E2-4518-9914-346E437D9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8" name="Oval 42">
              <a:extLst>
                <a:ext uri="{FF2B5EF4-FFF2-40B4-BE49-F238E27FC236}">
                  <a16:creationId xmlns:a16="http://schemas.microsoft.com/office/drawing/2014/main" id="{1F0A1BBC-CAF8-41A3-8A23-D4957EE21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3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79" name="Oval 43">
              <a:extLst>
                <a:ext uri="{FF2B5EF4-FFF2-40B4-BE49-F238E27FC236}">
                  <a16:creationId xmlns:a16="http://schemas.microsoft.com/office/drawing/2014/main" id="{AEAB7C7A-892E-48A5-A466-C398233F7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" y="2728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0" name="Oval 44">
              <a:extLst>
                <a:ext uri="{FF2B5EF4-FFF2-40B4-BE49-F238E27FC236}">
                  <a16:creationId xmlns:a16="http://schemas.microsoft.com/office/drawing/2014/main" id="{794C8DBF-AC3A-4508-A93E-264874EE3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1" name="Oval 45">
              <a:extLst>
                <a:ext uri="{FF2B5EF4-FFF2-40B4-BE49-F238E27FC236}">
                  <a16:creationId xmlns:a16="http://schemas.microsoft.com/office/drawing/2014/main" id="{12BE849D-8689-4CE3-913B-E74789B6C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2646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2" name="Oval 46">
              <a:extLst>
                <a:ext uri="{FF2B5EF4-FFF2-40B4-BE49-F238E27FC236}">
                  <a16:creationId xmlns:a16="http://schemas.microsoft.com/office/drawing/2014/main" id="{A34070A8-6626-4546-8AEA-EA147D688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3" name="Oval 47">
              <a:extLst>
                <a:ext uri="{FF2B5EF4-FFF2-40B4-BE49-F238E27FC236}">
                  <a16:creationId xmlns:a16="http://schemas.microsoft.com/office/drawing/2014/main" id="{1C0A4944-E88F-4F10-A449-9537DD9F1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2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4" name="Group 48">
            <a:extLst>
              <a:ext uri="{FF2B5EF4-FFF2-40B4-BE49-F238E27FC236}">
                <a16:creationId xmlns:a16="http://schemas.microsoft.com/office/drawing/2014/main" id="{5313E388-B3C0-4ECF-83CB-DC5933E33A78}"/>
              </a:ext>
            </a:extLst>
          </p:cNvPr>
          <p:cNvGrpSpPr>
            <a:grpSpLocks/>
          </p:cNvGrpSpPr>
          <p:nvPr/>
        </p:nvGrpSpPr>
        <p:grpSpPr bwMode="auto">
          <a:xfrm>
            <a:off x="8030711" y="4908277"/>
            <a:ext cx="535427" cy="276772"/>
            <a:chOff x="4890" y="2840"/>
            <a:chExt cx="373" cy="192"/>
          </a:xfrm>
        </p:grpSpPr>
        <p:sp>
          <p:nvSpPr>
            <p:cNvPr id="85" name="AutoShape 49">
              <a:extLst>
                <a:ext uri="{FF2B5EF4-FFF2-40B4-BE49-F238E27FC236}">
                  <a16:creationId xmlns:a16="http://schemas.microsoft.com/office/drawing/2014/main" id="{148980B4-6D96-4B09-BB01-7641C8B18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840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6" name="Oval 50">
              <a:extLst>
                <a:ext uri="{FF2B5EF4-FFF2-40B4-BE49-F238E27FC236}">
                  <a16:creationId xmlns:a16="http://schemas.microsoft.com/office/drawing/2014/main" id="{49155AB0-E23B-4A2C-ABB6-48B94EF55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7" name="Oval 51">
              <a:extLst>
                <a:ext uri="{FF2B5EF4-FFF2-40B4-BE49-F238E27FC236}">
                  <a16:creationId xmlns:a16="http://schemas.microsoft.com/office/drawing/2014/main" id="{B00F64B9-2F5D-48D9-9EB6-4C6515A95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8" name="Oval 52">
              <a:extLst>
                <a:ext uri="{FF2B5EF4-FFF2-40B4-BE49-F238E27FC236}">
                  <a16:creationId xmlns:a16="http://schemas.microsoft.com/office/drawing/2014/main" id="{5E55F301-1556-474F-B459-1FEDC8A8A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3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89" name="Oval 53">
              <a:extLst>
                <a:ext uri="{FF2B5EF4-FFF2-40B4-BE49-F238E27FC236}">
                  <a16:creationId xmlns:a16="http://schemas.microsoft.com/office/drawing/2014/main" id="{BB4195ED-7DAB-4C1C-A7A6-3C30A45AC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" y="2929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0" name="Oval 54">
              <a:extLst>
                <a:ext uri="{FF2B5EF4-FFF2-40B4-BE49-F238E27FC236}">
                  <a16:creationId xmlns:a16="http://schemas.microsoft.com/office/drawing/2014/main" id="{45B7387B-B548-42EC-968D-568CF3FDC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1" name="Oval 55">
              <a:extLst>
                <a:ext uri="{FF2B5EF4-FFF2-40B4-BE49-F238E27FC236}">
                  <a16:creationId xmlns:a16="http://schemas.microsoft.com/office/drawing/2014/main" id="{B4B4292F-D6A2-4928-84A4-85ED2077A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2847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2" name="Oval 56">
              <a:extLst>
                <a:ext uri="{FF2B5EF4-FFF2-40B4-BE49-F238E27FC236}">
                  <a16:creationId xmlns:a16="http://schemas.microsoft.com/office/drawing/2014/main" id="{304B347F-4C86-4994-B820-84B2F012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3" name="Oval 57">
              <a:extLst>
                <a:ext uri="{FF2B5EF4-FFF2-40B4-BE49-F238E27FC236}">
                  <a16:creationId xmlns:a16="http://schemas.microsoft.com/office/drawing/2014/main" id="{020F557E-C940-449A-9006-30A8AB675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2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4" name="Group 58">
            <a:extLst>
              <a:ext uri="{FF2B5EF4-FFF2-40B4-BE49-F238E27FC236}">
                <a16:creationId xmlns:a16="http://schemas.microsoft.com/office/drawing/2014/main" id="{1134F7E6-3050-4C69-8E1A-66EDB96E2C84}"/>
              </a:ext>
            </a:extLst>
          </p:cNvPr>
          <p:cNvGrpSpPr>
            <a:grpSpLocks/>
          </p:cNvGrpSpPr>
          <p:nvPr/>
        </p:nvGrpSpPr>
        <p:grpSpPr bwMode="auto">
          <a:xfrm>
            <a:off x="8603460" y="4278867"/>
            <a:ext cx="535427" cy="276772"/>
            <a:chOff x="5279" y="2431"/>
            <a:chExt cx="373" cy="192"/>
          </a:xfrm>
        </p:grpSpPr>
        <p:sp>
          <p:nvSpPr>
            <p:cNvPr id="95" name="AutoShape 59">
              <a:extLst>
                <a:ext uri="{FF2B5EF4-FFF2-40B4-BE49-F238E27FC236}">
                  <a16:creationId xmlns:a16="http://schemas.microsoft.com/office/drawing/2014/main" id="{3A6A35EA-7D46-4A9D-A4DD-BB33AD8C8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2431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6" name="Oval 60">
              <a:extLst>
                <a:ext uri="{FF2B5EF4-FFF2-40B4-BE49-F238E27FC236}">
                  <a16:creationId xmlns:a16="http://schemas.microsoft.com/office/drawing/2014/main" id="{70E5F081-B46F-4307-8803-A81299525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" y="2438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7" name="Oval 61">
              <a:extLst>
                <a:ext uri="{FF2B5EF4-FFF2-40B4-BE49-F238E27FC236}">
                  <a16:creationId xmlns:a16="http://schemas.microsoft.com/office/drawing/2014/main" id="{DED75A29-43ED-48EF-9D3D-D69535437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8" y="2520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8" name="Oval 62">
              <a:extLst>
                <a:ext uri="{FF2B5EF4-FFF2-40B4-BE49-F238E27FC236}">
                  <a16:creationId xmlns:a16="http://schemas.microsoft.com/office/drawing/2014/main" id="{45017812-1BD4-4157-B48A-1D82A36AD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520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99" name="Oval 63">
              <a:extLst>
                <a:ext uri="{FF2B5EF4-FFF2-40B4-BE49-F238E27FC236}">
                  <a16:creationId xmlns:a16="http://schemas.microsoft.com/office/drawing/2014/main" id="{585BB78D-1449-45FE-9CF8-65C924110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8" y="2520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0" name="Oval 64">
              <a:extLst>
                <a:ext uri="{FF2B5EF4-FFF2-40B4-BE49-F238E27FC236}">
                  <a16:creationId xmlns:a16="http://schemas.microsoft.com/office/drawing/2014/main" id="{69DE5B30-8F0A-4C92-A2E7-3604B3258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2520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1" name="Oval 65">
              <a:extLst>
                <a:ext uri="{FF2B5EF4-FFF2-40B4-BE49-F238E27FC236}">
                  <a16:creationId xmlns:a16="http://schemas.microsoft.com/office/drawing/2014/main" id="{E18F892E-C1F7-4851-AF64-2B77B0667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" y="2438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2" name="Oval 66">
              <a:extLst>
                <a:ext uri="{FF2B5EF4-FFF2-40B4-BE49-F238E27FC236}">
                  <a16:creationId xmlns:a16="http://schemas.microsoft.com/office/drawing/2014/main" id="{35485448-8A09-4181-8D50-700CC9C77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438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3" name="Oval 67">
              <a:extLst>
                <a:ext uri="{FF2B5EF4-FFF2-40B4-BE49-F238E27FC236}">
                  <a16:creationId xmlns:a16="http://schemas.microsoft.com/office/drawing/2014/main" id="{BF3AC6FB-6708-43C6-A445-23FF83F38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" y="2438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4" name="Group 68">
            <a:extLst>
              <a:ext uri="{FF2B5EF4-FFF2-40B4-BE49-F238E27FC236}">
                <a16:creationId xmlns:a16="http://schemas.microsoft.com/office/drawing/2014/main" id="{BCF4F083-44DF-4F4A-9EBB-41CB4F07D380}"/>
              </a:ext>
            </a:extLst>
          </p:cNvPr>
          <p:cNvGrpSpPr>
            <a:grpSpLocks/>
          </p:cNvGrpSpPr>
          <p:nvPr/>
        </p:nvGrpSpPr>
        <p:grpSpPr bwMode="auto">
          <a:xfrm>
            <a:off x="8592694" y="4887376"/>
            <a:ext cx="535427" cy="276772"/>
            <a:chOff x="5279" y="2840"/>
            <a:chExt cx="373" cy="192"/>
          </a:xfrm>
        </p:grpSpPr>
        <p:sp>
          <p:nvSpPr>
            <p:cNvPr id="105" name="AutoShape 69">
              <a:extLst>
                <a:ext uri="{FF2B5EF4-FFF2-40B4-BE49-F238E27FC236}">
                  <a16:creationId xmlns:a16="http://schemas.microsoft.com/office/drawing/2014/main" id="{EF1CAC02-6A76-4B1E-8160-EB6368126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2840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6" name="Oval 70">
              <a:extLst>
                <a:ext uri="{FF2B5EF4-FFF2-40B4-BE49-F238E27FC236}">
                  <a16:creationId xmlns:a16="http://schemas.microsoft.com/office/drawing/2014/main" id="{1D40402F-A5BD-4F93-A6F2-2BC0AD211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7" name="Oval 71">
              <a:extLst>
                <a:ext uri="{FF2B5EF4-FFF2-40B4-BE49-F238E27FC236}">
                  <a16:creationId xmlns:a16="http://schemas.microsoft.com/office/drawing/2014/main" id="{F41C2D4A-32F4-4B1A-AEE0-54B1EAC57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8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F0739E63-8999-4B41-BF61-A2342181E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B41C338B-67CD-4416-BDD5-97F6406A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8" y="2929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391DF0E9-7C80-4981-A4CB-D0E52D00F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2929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Oval 75">
              <a:extLst>
                <a:ext uri="{FF2B5EF4-FFF2-40B4-BE49-F238E27FC236}">
                  <a16:creationId xmlns:a16="http://schemas.microsoft.com/office/drawing/2014/main" id="{778839CC-1578-4E40-9FBA-50145B0F6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" y="2847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2" name="Oval 76">
              <a:extLst>
                <a:ext uri="{FF2B5EF4-FFF2-40B4-BE49-F238E27FC236}">
                  <a16:creationId xmlns:a16="http://schemas.microsoft.com/office/drawing/2014/main" id="{E8CB0770-DA60-457F-AC7F-50C258179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3" name="Oval 77">
              <a:extLst>
                <a:ext uri="{FF2B5EF4-FFF2-40B4-BE49-F238E27FC236}">
                  <a16:creationId xmlns:a16="http://schemas.microsoft.com/office/drawing/2014/main" id="{CF6D0942-C3E0-4B22-B0B0-E47EC0F8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" y="2847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114" name="Arc 78">
            <a:extLst>
              <a:ext uri="{FF2B5EF4-FFF2-40B4-BE49-F238E27FC236}">
                <a16:creationId xmlns:a16="http://schemas.microsoft.com/office/drawing/2014/main" id="{1E51AAC5-D505-45E8-B5CF-4399D6382E6E}"/>
              </a:ext>
            </a:extLst>
          </p:cNvPr>
          <p:cNvSpPr>
            <a:spLocks/>
          </p:cNvSpPr>
          <p:nvPr/>
        </p:nvSpPr>
        <p:spPr bwMode="auto">
          <a:xfrm>
            <a:off x="4019817" y="4175378"/>
            <a:ext cx="725091" cy="200025"/>
          </a:xfrm>
          <a:custGeom>
            <a:avLst/>
            <a:gdLst>
              <a:gd name="T0" fmla="*/ 0 w 42743"/>
              <a:gd name="T1" fmla="*/ 2147483647 h 21600"/>
              <a:gd name="T2" fmla="*/ 2147483647 w 42743"/>
              <a:gd name="T3" fmla="*/ 2147483647 h 21600"/>
              <a:gd name="T4" fmla="*/ 2147483647 w 4274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743" h="21600" fill="none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3072" y="0"/>
                  <a:pt x="42743" y="9670"/>
                  <a:pt x="42743" y="21600"/>
                </a:cubicBezTo>
              </a:path>
              <a:path w="42743" h="21600" stroke="0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3072" y="0"/>
                  <a:pt x="42743" y="9670"/>
                  <a:pt x="42743" y="21600"/>
                </a:cubicBezTo>
                <a:lnTo>
                  <a:pt x="21143" y="21600"/>
                </a:lnTo>
                <a:lnTo>
                  <a:pt x="-1" y="1718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Dot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 dirty="0"/>
          </a:p>
        </p:txBody>
      </p:sp>
      <p:grpSp>
        <p:nvGrpSpPr>
          <p:cNvPr id="115" name="Group 79">
            <a:extLst>
              <a:ext uri="{FF2B5EF4-FFF2-40B4-BE49-F238E27FC236}">
                <a16:creationId xmlns:a16="http://schemas.microsoft.com/office/drawing/2014/main" id="{27B44CCF-A502-491C-8EB0-819FE609AA62}"/>
              </a:ext>
            </a:extLst>
          </p:cNvPr>
          <p:cNvGrpSpPr>
            <a:grpSpLocks/>
          </p:cNvGrpSpPr>
          <p:nvPr/>
        </p:nvGrpSpPr>
        <p:grpSpPr bwMode="auto">
          <a:xfrm>
            <a:off x="8584066" y="4593839"/>
            <a:ext cx="535427" cy="276772"/>
            <a:chOff x="5279" y="2639"/>
            <a:chExt cx="373" cy="192"/>
          </a:xfrm>
        </p:grpSpPr>
        <p:sp>
          <p:nvSpPr>
            <p:cNvPr id="116" name="AutoShape 80">
              <a:extLst>
                <a:ext uri="{FF2B5EF4-FFF2-40B4-BE49-F238E27FC236}">
                  <a16:creationId xmlns:a16="http://schemas.microsoft.com/office/drawing/2014/main" id="{7F8BBC47-9E25-4B03-A31D-7AE2A681B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2639"/>
              <a:ext cx="373" cy="192"/>
            </a:xfrm>
            <a:prstGeom prst="cube">
              <a:avLst>
                <a:gd name="adj" fmla="val 24995"/>
              </a:avLst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7" name="Oval 81">
              <a:extLst>
                <a:ext uri="{FF2B5EF4-FFF2-40B4-BE49-F238E27FC236}">
                  <a16:creationId xmlns:a16="http://schemas.microsoft.com/office/drawing/2014/main" id="{989C1B1F-013C-4C93-8547-0EBA6B975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8" name="Oval 82">
              <a:extLst>
                <a:ext uri="{FF2B5EF4-FFF2-40B4-BE49-F238E27FC236}">
                  <a16:creationId xmlns:a16="http://schemas.microsoft.com/office/drawing/2014/main" id="{13755249-756A-4D48-ACB3-1C5042D8A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8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19" name="Oval 83">
              <a:extLst>
                <a:ext uri="{FF2B5EF4-FFF2-40B4-BE49-F238E27FC236}">
                  <a16:creationId xmlns:a16="http://schemas.microsoft.com/office/drawing/2014/main" id="{AE398CFA-E434-4CAF-8D59-7FE76984D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20" name="Oval 84">
              <a:extLst>
                <a:ext uri="{FF2B5EF4-FFF2-40B4-BE49-F238E27FC236}">
                  <a16:creationId xmlns:a16="http://schemas.microsoft.com/office/drawing/2014/main" id="{54F2DA3A-2501-49A6-A49C-303ED6218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8" y="2728"/>
              <a:ext cx="53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21" name="Oval 85">
              <a:extLst>
                <a:ext uri="{FF2B5EF4-FFF2-40B4-BE49-F238E27FC236}">
                  <a16:creationId xmlns:a16="http://schemas.microsoft.com/office/drawing/2014/main" id="{2D33D6A8-D4EC-409D-9845-7AF3408CF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" y="2728"/>
              <a:ext cx="54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22" name="Oval 86">
              <a:extLst>
                <a:ext uri="{FF2B5EF4-FFF2-40B4-BE49-F238E27FC236}">
                  <a16:creationId xmlns:a16="http://schemas.microsoft.com/office/drawing/2014/main" id="{609F61BC-F354-4337-A948-EFE90DDD9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" y="2646"/>
              <a:ext cx="53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23" name="Oval 87">
              <a:extLst>
                <a:ext uri="{FF2B5EF4-FFF2-40B4-BE49-F238E27FC236}">
                  <a16:creationId xmlns:a16="http://schemas.microsoft.com/office/drawing/2014/main" id="{A9A06DAF-DBB2-4FDA-AC9E-4C67301E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  <p:sp>
          <p:nvSpPr>
            <p:cNvPr id="124" name="Oval 88">
              <a:extLst>
                <a:ext uri="{FF2B5EF4-FFF2-40B4-BE49-F238E27FC236}">
                  <a16:creationId xmlns:a16="http://schemas.microsoft.com/office/drawing/2014/main" id="{5D5FB1B8-A6A7-45D8-B557-D3B0300D6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" y="2646"/>
              <a:ext cx="55" cy="2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35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30000"/>
                </a:spcBef>
                <a:buClr>
                  <a:srgbClr val="F7B10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35000"/>
                </a:spcBef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Font typeface="Wingdings" panose="05000000000000000000" pitchFamily="2" charset="2"/>
                <a:buChar char="§"/>
                <a:defRPr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350" b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125" name="Rectangle 90">
            <a:extLst>
              <a:ext uri="{FF2B5EF4-FFF2-40B4-BE49-F238E27FC236}">
                <a16:creationId xmlns:a16="http://schemas.microsoft.com/office/drawing/2014/main" id="{6F194DDD-9D29-46D1-A95C-548D60E34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865" y="5082663"/>
            <a:ext cx="861839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9056" tIns="34529" rIns="69056" bIns="34529">
            <a:spAutoFit/>
          </a:bodyPr>
          <a:lstStyle>
            <a:lvl1pPr defTabSz="762000"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Вес </a:t>
            </a:r>
            <a:r>
              <a:rPr lang="fr-FR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= </a:t>
            </a:r>
            <a:r>
              <a:rPr lang="ru-RU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7</a:t>
            </a:r>
            <a:r>
              <a:rPr lang="fr-FR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ru-RU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кг</a:t>
            </a:r>
            <a:endParaRPr lang="fr-FR" altLang="en-US" sz="12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6" name="Freeform 91">
            <a:extLst>
              <a:ext uri="{FF2B5EF4-FFF2-40B4-BE49-F238E27FC236}">
                <a16:creationId xmlns:a16="http://schemas.microsoft.com/office/drawing/2014/main" id="{0281F0CF-563E-4C2A-8E9F-5FA6438D18DE}"/>
              </a:ext>
            </a:extLst>
          </p:cNvPr>
          <p:cNvSpPr>
            <a:spLocks/>
          </p:cNvSpPr>
          <p:nvPr/>
        </p:nvSpPr>
        <p:spPr bwMode="auto">
          <a:xfrm>
            <a:off x="7988431" y="4387767"/>
            <a:ext cx="1186034" cy="981842"/>
          </a:xfrm>
          <a:custGeom>
            <a:avLst/>
            <a:gdLst>
              <a:gd name="T0" fmla="*/ 0 w 825"/>
              <a:gd name="T1" fmla="*/ 2147483647 h 681"/>
              <a:gd name="T2" fmla="*/ 0 w 825"/>
              <a:gd name="T3" fmla="*/ 2147483647 h 681"/>
              <a:gd name="T4" fmla="*/ 2147483647 w 825"/>
              <a:gd name="T5" fmla="*/ 2147483647 h 681"/>
              <a:gd name="T6" fmla="*/ 2147483647 w 825"/>
              <a:gd name="T7" fmla="*/ 2147483647 h 681"/>
              <a:gd name="T8" fmla="*/ 2147483647 w 825"/>
              <a:gd name="T9" fmla="*/ 2147483647 h 681"/>
              <a:gd name="T10" fmla="*/ 2147483647 w 825"/>
              <a:gd name="T11" fmla="*/ 2147483647 h 681"/>
              <a:gd name="T12" fmla="*/ 2147483647 w 825"/>
              <a:gd name="T13" fmla="*/ 2147483647 h 681"/>
              <a:gd name="T14" fmla="*/ 2147483647 w 825"/>
              <a:gd name="T15" fmla="*/ 0 h 6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25" h="681">
                <a:moveTo>
                  <a:pt x="0" y="264"/>
                </a:moveTo>
                <a:lnTo>
                  <a:pt x="0" y="672"/>
                </a:lnTo>
                <a:lnTo>
                  <a:pt x="64" y="664"/>
                </a:lnTo>
                <a:lnTo>
                  <a:pt x="136" y="560"/>
                </a:lnTo>
                <a:lnTo>
                  <a:pt x="672" y="560"/>
                </a:lnTo>
                <a:lnTo>
                  <a:pt x="752" y="680"/>
                </a:lnTo>
                <a:lnTo>
                  <a:pt x="824" y="672"/>
                </a:lnTo>
                <a:lnTo>
                  <a:pt x="824" y="0"/>
                </a:lnTo>
              </a:path>
            </a:pathLst>
          </a:custGeom>
          <a:noFill/>
          <a:ln w="762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 dirty="0"/>
          </a:p>
        </p:txBody>
      </p:sp>
      <p:pic>
        <p:nvPicPr>
          <p:cNvPr id="127" name="Picture 92">
            <a:extLst>
              <a:ext uri="{FF2B5EF4-FFF2-40B4-BE49-F238E27FC236}">
                <a16:creationId xmlns:a16="http://schemas.microsoft.com/office/drawing/2014/main" id="{D9186785-C037-4B08-8D4E-C13A37219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086" y="2930386"/>
            <a:ext cx="1783719" cy="2459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8" name="Line 93">
            <a:extLst>
              <a:ext uri="{FF2B5EF4-FFF2-40B4-BE49-F238E27FC236}">
                <a16:creationId xmlns:a16="http://schemas.microsoft.com/office/drawing/2014/main" id="{57E0CA54-A2EE-4BE1-B6F8-508D1501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5179" y="5389878"/>
            <a:ext cx="525661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 dirty="0"/>
          </a:p>
        </p:txBody>
      </p:sp>
      <p:sp>
        <p:nvSpPr>
          <p:cNvPr id="129" name="Arc 78">
            <a:extLst>
              <a:ext uri="{FF2B5EF4-FFF2-40B4-BE49-F238E27FC236}">
                <a16:creationId xmlns:a16="http://schemas.microsoft.com/office/drawing/2014/main" id="{6B4FB9E5-F2A5-4209-8E21-130E6CA03A72}"/>
              </a:ext>
            </a:extLst>
          </p:cNvPr>
          <p:cNvSpPr>
            <a:spLocks/>
          </p:cNvSpPr>
          <p:nvPr/>
        </p:nvSpPr>
        <p:spPr bwMode="auto">
          <a:xfrm>
            <a:off x="6722036" y="4188894"/>
            <a:ext cx="725091" cy="251031"/>
          </a:xfrm>
          <a:custGeom>
            <a:avLst/>
            <a:gdLst>
              <a:gd name="T0" fmla="*/ 0 w 42743"/>
              <a:gd name="T1" fmla="*/ 2147483647 h 21600"/>
              <a:gd name="T2" fmla="*/ 2147483647 w 42743"/>
              <a:gd name="T3" fmla="*/ 2147483647 h 21600"/>
              <a:gd name="T4" fmla="*/ 2147483647 w 4274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743" h="21600" fill="none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3072" y="0"/>
                  <a:pt x="42743" y="9670"/>
                  <a:pt x="42743" y="21600"/>
                </a:cubicBezTo>
              </a:path>
              <a:path w="42743" h="21600" stroke="0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3072" y="0"/>
                  <a:pt x="42743" y="9670"/>
                  <a:pt x="42743" y="21600"/>
                </a:cubicBezTo>
                <a:lnTo>
                  <a:pt x="21143" y="21600"/>
                </a:lnTo>
                <a:lnTo>
                  <a:pt x="-1" y="1718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Dot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42D3091-6437-42F9-B493-0842C8129D3D}"/>
              </a:ext>
            </a:extLst>
          </p:cNvPr>
          <p:cNvSpPr txBox="1"/>
          <p:nvPr/>
        </p:nvSpPr>
        <p:spPr>
          <a:xfrm>
            <a:off x="2602963" y="1995008"/>
            <a:ext cx="6094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Производительность = </a:t>
            </a:r>
            <a:r>
              <a:rPr lang="fr-FR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7</a:t>
            </a:r>
            <a:r>
              <a:rPr lang="fr-FR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0 </a:t>
            </a: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шт.</a:t>
            </a:r>
            <a:r>
              <a:rPr lang="fr-FR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 / </a:t>
            </a: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час, загрузка 96%</a:t>
            </a:r>
            <a:endParaRPr lang="fr-FR" altLang="en-US" sz="1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Вес детали </a:t>
            </a:r>
            <a:r>
              <a:rPr lang="fr-FR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= </a:t>
            </a: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7</a:t>
            </a:r>
            <a:r>
              <a:rPr lang="fr-FR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кг</a:t>
            </a:r>
            <a:endParaRPr lang="fr-FR" altLang="en-US" sz="1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b="1" dirty="0">
                <a:solidFill>
                  <a:srgbClr val="000000"/>
                </a:solidFill>
                <a:latin typeface="Arial Narrow" panose="020B0606020202030204" pitchFamily="34" charset="0"/>
              </a:rPr>
              <a:t>Операция несложная</a:t>
            </a:r>
            <a:endParaRPr lang="fr-FR" altLang="en-US" sz="1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1" name="Овал 130">
            <a:extLst>
              <a:ext uri="{FF2B5EF4-FFF2-40B4-BE49-F238E27FC236}">
                <a16:creationId xmlns:a16="http://schemas.microsoft.com/office/drawing/2014/main" id="{5E4E8240-05E3-4F85-AA49-045DBF09180A}"/>
              </a:ext>
            </a:extLst>
          </p:cNvPr>
          <p:cNvSpPr/>
          <p:nvPr/>
        </p:nvSpPr>
        <p:spPr>
          <a:xfrm>
            <a:off x="7064800" y="3577980"/>
            <a:ext cx="1593207" cy="10565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Овал 131">
            <a:extLst>
              <a:ext uri="{FF2B5EF4-FFF2-40B4-BE49-F238E27FC236}">
                <a16:creationId xmlns:a16="http://schemas.microsoft.com/office/drawing/2014/main" id="{EC3F70C1-4C26-465E-84E4-AD242429BD8C}"/>
              </a:ext>
            </a:extLst>
          </p:cNvPr>
          <p:cNvSpPr/>
          <p:nvPr/>
        </p:nvSpPr>
        <p:spPr>
          <a:xfrm>
            <a:off x="1987122" y="4819727"/>
            <a:ext cx="1227912" cy="83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9055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625" y="3111501"/>
            <a:ext cx="1084263" cy="227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004" y="3225801"/>
            <a:ext cx="1047751" cy="216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2168526" y="4441826"/>
            <a:ext cx="1841500" cy="82551"/>
          </a:xfrm>
          <a:prstGeom prst="rect">
            <a:avLst/>
          </a:prstGeom>
          <a:solidFill>
            <a:srgbClr val="996633"/>
          </a:solidFill>
          <a:ln w="12700">
            <a:solidFill>
              <a:srgbClr val="9966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35" name="Arc 7"/>
          <p:cNvSpPr>
            <a:spLocks/>
          </p:cNvSpPr>
          <p:nvPr/>
        </p:nvSpPr>
        <p:spPr bwMode="auto">
          <a:xfrm>
            <a:off x="7412037" y="3551239"/>
            <a:ext cx="1376363" cy="330200"/>
          </a:xfrm>
          <a:custGeom>
            <a:avLst/>
            <a:gdLst>
              <a:gd name="T0" fmla="*/ 0 w 42032"/>
              <a:gd name="T1" fmla="*/ 2147483647 h 21600"/>
              <a:gd name="T2" fmla="*/ 2147483647 w 42032"/>
              <a:gd name="T3" fmla="*/ 2147483647 h 21600"/>
              <a:gd name="T4" fmla="*/ 2147483647 w 42032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32" h="21600" fill="none" extrusionOk="0">
                <a:moveTo>
                  <a:pt x="0" y="17272"/>
                </a:moveTo>
                <a:cubicBezTo>
                  <a:pt x="2056" y="7219"/>
                  <a:pt x="10900" y="-1"/>
                  <a:pt x="21162" y="0"/>
                </a:cubicBezTo>
                <a:cubicBezTo>
                  <a:pt x="30947" y="0"/>
                  <a:pt x="39510" y="6578"/>
                  <a:pt x="42032" y="16033"/>
                </a:cubicBezTo>
              </a:path>
              <a:path w="42032" h="21600" stroke="0" extrusionOk="0">
                <a:moveTo>
                  <a:pt x="0" y="17272"/>
                </a:moveTo>
                <a:cubicBezTo>
                  <a:pt x="2056" y="7219"/>
                  <a:pt x="10900" y="-1"/>
                  <a:pt x="21162" y="0"/>
                </a:cubicBezTo>
                <a:cubicBezTo>
                  <a:pt x="30947" y="0"/>
                  <a:pt x="39510" y="6578"/>
                  <a:pt x="42032" y="16033"/>
                </a:cubicBezTo>
                <a:lnTo>
                  <a:pt x="21162" y="21600"/>
                </a:lnTo>
                <a:lnTo>
                  <a:pt x="0" y="17272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Dot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36" name="Arc 8"/>
          <p:cNvSpPr>
            <a:spLocks/>
          </p:cNvSpPr>
          <p:nvPr/>
        </p:nvSpPr>
        <p:spPr bwMode="auto">
          <a:xfrm>
            <a:off x="4618037" y="3497263"/>
            <a:ext cx="958851" cy="265112"/>
          </a:xfrm>
          <a:custGeom>
            <a:avLst/>
            <a:gdLst>
              <a:gd name="T0" fmla="*/ 0 w 42407"/>
              <a:gd name="T1" fmla="*/ 2147483647 h 21600"/>
              <a:gd name="T2" fmla="*/ 2147483647 w 42407"/>
              <a:gd name="T3" fmla="*/ 2147483647 h 21600"/>
              <a:gd name="T4" fmla="*/ 2147483647 w 42407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407" h="21600" fill="none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1608" y="0"/>
                  <a:pt x="40567" y="7501"/>
                  <a:pt x="42406" y="17804"/>
                </a:cubicBezTo>
              </a:path>
              <a:path w="42407" h="21600" stroke="0" extrusionOk="0">
                <a:moveTo>
                  <a:pt x="-1" y="17180"/>
                </a:moveTo>
                <a:cubicBezTo>
                  <a:pt x="2091" y="7171"/>
                  <a:pt x="10916" y="-1"/>
                  <a:pt x="21143" y="0"/>
                </a:cubicBezTo>
                <a:cubicBezTo>
                  <a:pt x="31608" y="0"/>
                  <a:pt x="40567" y="7501"/>
                  <a:pt x="42406" y="17804"/>
                </a:cubicBezTo>
                <a:lnTo>
                  <a:pt x="21143" y="21600"/>
                </a:lnTo>
                <a:lnTo>
                  <a:pt x="-1" y="1718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Dot"/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4589455" y="1857377"/>
            <a:ext cx="3778278" cy="739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9" rIns="92075" bIns="46039">
            <a:spAutoFit/>
          </a:bodyPr>
          <a:lstStyle>
            <a:lvl1pPr defTabSz="762000"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Производительность</a:t>
            </a:r>
            <a:r>
              <a:rPr lang="fr-FR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 = 50 </a:t>
            </a: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шт.</a:t>
            </a:r>
            <a:r>
              <a:rPr lang="fr-FR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 / </a:t>
            </a: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час, загрузка 99%</a:t>
            </a:r>
            <a:endParaRPr lang="fr-FR" alt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Вес детали  </a:t>
            </a:r>
            <a:r>
              <a:rPr lang="fr-FR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= 6,5 </a:t>
            </a: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кг</a:t>
            </a:r>
            <a:endParaRPr lang="fr-FR" alt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ru-RU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Операция легкая</a:t>
            </a:r>
            <a:endParaRPr lang="fr-FR" alt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3116263" y="4579939"/>
            <a:ext cx="1142942" cy="277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9" rIns="92075" bIns="46039">
            <a:spAutoFit/>
          </a:bodyPr>
          <a:lstStyle>
            <a:lvl1pPr defTabSz="762000"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Деталь </a:t>
            </a:r>
            <a:r>
              <a:rPr lang="fr-FR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 = 6,5 </a:t>
            </a:r>
            <a:r>
              <a:rPr lang="ru-RU" altLang="en-US" sz="1200" dirty="0">
                <a:solidFill>
                  <a:srgbClr val="000000"/>
                </a:solidFill>
                <a:latin typeface="Arial Narrow" panose="020B0606020202030204" pitchFamily="34" charset="0"/>
              </a:rPr>
              <a:t>кг</a:t>
            </a:r>
            <a:endParaRPr lang="fr-FR" altLang="en-US" sz="12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3551239" y="4141788"/>
            <a:ext cx="468312" cy="258763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>
            <a:off x="3284539" y="4141788"/>
            <a:ext cx="468312" cy="258763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1" name="Oval 13"/>
          <p:cNvSpPr>
            <a:spLocks noChangeArrowheads="1"/>
          </p:cNvSpPr>
          <p:nvPr/>
        </p:nvSpPr>
        <p:spPr bwMode="auto">
          <a:xfrm>
            <a:off x="3003551" y="4141788"/>
            <a:ext cx="469900" cy="258763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2" name="Oval 14"/>
          <p:cNvSpPr>
            <a:spLocks noChangeArrowheads="1"/>
          </p:cNvSpPr>
          <p:nvPr/>
        </p:nvSpPr>
        <p:spPr bwMode="auto">
          <a:xfrm>
            <a:off x="2711452" y="4141788"/>
            <a:ext cx="468313" cy="258763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3" name="Oval 15"/>
          <p:cNvSpPr>
            <a:spLocks noChangeArrowheads="1"/>
          </p:cNvSpPr>
          <p:nvPr/>
        </p:nvSpPr>
        <p:spPr bwMode="auto">
          <a:xfrm>
            <a:off x="2417763" y="4141788"/>
            <a:ext cx="469900" cy="258763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4" name="Oval 16"/>
          <p:cNvSpPr>
            <a:spLocks noChangeArrowheads="1"/>
          </p:cNvSpPr>
          <p:nvPr/>
        </p:nvSpPr>
        <p:spPr bwMode="auto">
          <a:xfrm rot="20040000">
            <a:off x="6477000" y="4405314"/>
            <a:ext cx="471488" cy="261937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5" name="Freeform 17"/>
          <p:cNvSpPr>
            <a:spLocks/>
          </p:cNvSpPr>
          <p:nvPr/>
        </p:nvSpPr>
        <p:spPr bwMode="auto">
          <a:xfrm>
            <a:off x="8493125" y="3111501"/>
            <a:ext cx="1092200" cy="1250951"/>
          </a:xfrm>
          <a:custGeom>
            <a:avLst/>
            <a:gdLst>
              <a:gd name="T0" fmla="*/ 0 w 745"/>
              <a:gd name="T1" fmla="*/ 2147483647 h 849"/>
              <a:gd name="T2" fmla="*/ 2147483647 w 745"/>
              <a:gd name="T3" fmla="*/ 2147483647 h 849"/>
              <a:gd name="T4" fmla="*/ 2147483647 w 745"/>
              <a:gd name="T5" fmla="*/ 2147483647 h 849"/>
              <a:gd name="T6" fmla="*/ 2147483647 w 745"/>
              <a:gd name="T7" fmla="*/ 0 h 8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5" h="849">
                <a:moveTo>
                  <a:pt x="0" y="624"/>
                </a:moveTo>
                <a:lnTo>
                  <a:pt x="360" y="848"/>
                </a:lnTo>
                <a:lnTo>
                  <a:pt x="744" y="224"/>
                </a:lnTo>
                <a:lnTo>
                  <a:pt x="408" y="0"/>
                </a:lnTo>
              </a:path>
            </a:pathLst>
          </a:custGeom>
          <a:noFill/>
          <a:ln w="508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46" name="Freeform 18"/>
          <p:cNvSpPr>
            <a:spLocks/>
          </p:cNvSpPr>
          <p:nvPr/>
        </p:nvSpPr>
        <p:spPr bwMode="auto">
          <a:xfrm>
            <a:off x="8551864" y="3594101"/>
            <a:ext cx="1068387" cy="920751"/>
          </a:xfrm>
          <a:custGeom>
            <a:avLst/>
            <a:gdLst>
              <a:gd name="T0" fmla="*/ 2147483647 w 729"/>
              <a:gd name="T1" fmla="*/ 0 h 625"/>
              <a:gd name="T2" fmla="*/ 2147483647 w 729"/>
              <a:gd name="T3" fmla="*/ 2147483647 h 625"/>
              <a:gd name="T4" fmla="*/ 0 w 729"/>
              <a:gd name="T5" fmla="*/ 2147483647 h 6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9" h="625">
                <a:moveTo>
                  <a:pt x="728" y="0"/>
                </a:moveTo>
                <a:lnTo>
                  <a:pt x="344" y="624"/>
                </a:lnTo>
                <a:lnTo>
                  <a:pt x="0" y="416"/>
                </a:lnTo>
              </a:path>
            </a:pathLst>
          </a:custGeom>
          <a:noFill/>
          <a:ln w="1270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47" name="Freeform 19"/>
          <p:cNvSpPr>
            <a:spLocks/>
          </p:cNvSpPr>
          <p:nvPr/>
        </p:nvSpPr>
        <p:spPr bwMode="auto">
          <a:xfrm>
            <a:off x="8621714" y="4610101"/>
            <a:ext cx="1317625" cy="708025"/>
          </a:xfrm>
          <a:custGeom>
            <a:avLst/>
            <a:gdLst>
              <a:gd name="T0" fmla="*/ 2147483647 w 899"/>
              <a:gd name="T1" fmla="*/ 0 h 481"/>
              <a:gd name="T2" fmla="*/ 0 w 899"/>
              <a:gd name="T3" fmla="*/ 0 h 481"/>
              <a:gd name="T4" fmla="*/ 0 w 899"/>
              <a:gd name="T5" fmla="*/ 2147483647 h 481"/>
              <a:gd name="T6" fmla="*/ 2147483647 w 899"/>
              <a:gd name="T7" fmla="*/ 2147483647 h 481"/>
              <a:gd name="T8" fmla="*/ 2147483647 w 899"/>
              <a:gd name="T9" fmla="*/ 2147483647 h 481"/>
              <a:gd name="T10" fmla="*/ 2147483647 w 899"/>
              <a:gd name="T11" fmla="*/ 2147483647 h 481"/>
              <a:gd name="T12" fmla="*/ 2147483647 w 899"/>
              <a:gd name="T13" fmla="*/ 2147483647 h 481"/>
              <a:gd name="T14" fmla="*/ 2147483647 w 899"/>
              <a:gd name="T15" fmla="*/ 2147483647 h 481"/>
              <a:gd name="T16" fmla="*/ 2147483647 w 899"/>
              <a:gd name="T17" fmla="*/ 2147483647 h 481"/>
              <a:gd name="T18" fmla="*/ 2147483647 w 899"/>
              <a:gd name="T19" fmla="*/ 2147483647 h 4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99" h="481">
                <a:moveTo>
                  <a:pt x="256" y="0"/>
                </a:moveTo>
                <a:lnTo>
                  <a:pt x="0" y="0"/>
                </a:lnTo>
                <a:lnTo>
                  <a:pt x="0" y="296"/>
                </a:lnTo>
                <a:lnTo>
                  <a:pt x="8" y="320"/>
                </a:lnTo>
                <a:lnTo>
                  <a:pt x="176" y="376"/>
                </a:lnTo>
                <a:lnTo>
                  <a:pt x="184" y="480"/>
                </a:lnTo>
                <a:lnTo>
                  <a:pt x="898" y="480"/>
                </a:lnTo>
                <a:lnTo>
                  <a:pt x="898" y="264"/>
                </a:lnTo>
                <a:lnTo>
                  <a:pt x="304" y="264"/>
                </a:lnTo>
                <a:lnTo>
                  <a:pt x="304" y="8"/>
                </a:lnTo>
              </a:path>
            </a:pathLst>
          </a:custGeom>
          <a:noFill/>
          <a:ln w="76200" cap="rnd" cmpd="sng">
            <a:solidFill>
              <a:srgbClr val="996633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48" name="Oval 20"/>
          <p:cNvSpPr>
            <a:spLocks noChangeArrowheads="1"/>
          </p:cNvSpPr>
          <p:nvPr/>
        </p:nvSpPr>
        <p:spPr bwMode="auto">
          <a:xfrm rot="18120000">
            <a:off x="8793957" y="3996533"/>
            <a:ext cx="473075" cy="255588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 rot="18120000">
            <a:off x="8618539" y="3868739"/>
            <a:ext cx="473075" cy="257175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50" name="Oval 22"/>
          <p:cNvSpPr>
            <a:spLocks noChangeArrowheads="1"/>
          </p:cNvSpPr>
          <p:nvPr/>
        </p:nvSpPr>
        <p:spPr bwMode="auto">
          <a:xfrm rot="18120000">
            <a:off x="8759032" y="3615533"/>
            <a:ext cx="473075" cy="255588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51" name="Oval 23"/>
          <p:cNvSpPr>
            <a:spLocks noChangeArrowheads="1"/>
          </p:cNvSpPr>
          <p:nvPr/>
        </p:nvSpPr>
        <p:spPr bwMode="auto">
          <a:xfrm rot="18120000">
            <a:off x="8958264" y="3716339"/>
            <a:ext cx="473075" cy="257175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52" name="Oval 24"/>
          <p:cNvSpPr>
            <a:spLocks noChangeArrowheads="1"/>
          </p:cNvSpPr>
          <p:nvPr/>
        </p:nvSpPr>
        <p:spPr bwMode="auto">
          <a:xfrm rot="18120000">
            <a:off x="9098757" y="3475833"/>
            <a:ext cx="473075" cy="255588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53" name="Oval 25"/>
          <p:cNvSpPr>
            <a:spLocks noChangeArrowheads="1"/>
          </p:cNvSpPr>
          <p:nvPr/>
        </p:nvSpPr>
        <p:spPr bwMode="auto">
          <a:xfrm rot="18120000">
            <a:off x="8923339" y="3335339"/>
            <a:ext cx="473075" cy="257175"/>
          </a:xfrm>
          <a:prstGeom prst="ellipse">
            <a:avLst/>
          </a:prstGeom>
          <a:solidFill>
            <a:srgbClr val="5F5F5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sp>
        <p:nvSpPr>
          <p:cNvPr id="54" name="Oval 26"/>
          <p:cNvSpPr>
            <a:spLocks noChangeArrowheads="1"/>
          </p:cNvSpPr>
          <p:nvPr/>
        </p:nvSpPr>
        <p:spPr bwMode="auto">
          <a:xfrm>
            <a:off x="9002714" y="4538663"/>
            <a:ext cx="119063" cy="125412"/>
          </a:xfrm>
          <a:prstGeom prst="ellipse">
            <a:avLst/>
          </a:prstGeom>
          <a:solidFill>
            <a:srgbClr val="996633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5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buClr>
                <a:srgbClr val="F7B1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5000"/>
              </a:spcBef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40000"/>
              </a:spcBef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rgbClr val="000000"/>
              </a:solidFill>
            </a:endParaRPr>
          </a:p>
        </p:txBody>
      </p:sp>
      <p:pic>
        <p:nvPicPr>
          <p:cNvPr id="55" name="Picture 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026" y="2820989"/>
            <a:ext cx="1725613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Line 28"/>
          <p:cNvSpPr>
            <a:spLocks noChangeShapeType="1"/>
          </p:cNvSpPr>
          <p:nvPr/>
        </p:nvSpPr>
        <p:spPr bwMode="auto">
          <a:xfrm>
            <a:off x="3295651" y="5353051"/>
            <a:ext cx="65516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1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12C55EA-7D3B-4F46-A552-BC5C83CB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spc="67" dirty="0">
                <a:solidFill>
                  <a:srgbClr val="F56727"/>
                </a:solidFill>
                <a:latin typeface="Arial" panose="020B0604020202020204"/>
              </a:rPr>
              <a:t>КЛАССИФИКАЦИЯ РАБОЧИХ МЕСТ ПО ЭРГОНОМИКЕ:</a:t>
            </a:r>
            <a:endParaRPr lang="ru-RU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E060AB-E76F-45EF-BDDD-92CC2010D07D}"/>
              </a:ext>
            </a:extLst>
          </p:cNvPr>
          <p:cNvSpPr txBox="1"/>
          <p:nvPr/>
        </p:nvSpPr>
        <p:spPr>
          <a:xfrm>
            <a:off x="233592" y="539795"/>
            <a:ext cx="3317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B050"/>
                </a:solidFill>
              </a:rPr>
              <a:t>ЗЕЛЕНОЕ РАБОЧЕЕ МЕСТО</a:t>
            </a:r>
          </a:p>
          <a:p>
            <a:r>
              <a:rPr lang="ru-RU" sz="1200" b="1" dirty="0">
                <a:solidFill>
                  <a:srgbClr val="00B050"/>
                </a:solidFill>
              </a:rPr>
              <a:t>(С ОПТИМАЛЬНЫМИ (БЕЗОПАСНЫМИ)  УСЛОВИЯМИ ТРУДА):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84C23-A951-4453-BD65-3E3D38B4EAEA}"/>
              </a:ext>
            </a:extLst>
          </p:cNvPr>
          <p:cNvSpPr txBox="1"/>
          <p:nvPr/>
        </p:nvSpPr>
        <p:spPr>
          <a:xfrm>
            <a:off x="3473451" y="685039"/>
            <a:ext cx="8560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Положение тела – работник работает в хорошем положении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bg2">
                    <a:lumMod val="25000"/>
                  </a:schemeClr>
                </a:solidFill>
              </a:rPr>
              <a:t>Усилие – подъём и перемещение тяжестей не более 7 кг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00688"/>
      </p:ext>
    </p:extLst>
  </p:cSld>
  <p:clrMapOvr>
    <a:masterClrMapping/>
  </p:clrMapOvr>
</p:sld>
</file>

<file path=ppt/theme/theme1.xml><?xml version="1.0" encoding="utf-8"?>
<a:theme xmlns:a="http://schemas.openxmlformats.org/drawingml/2006/main" name="4_Тема LADA content">
  <a:themeElements>
    <a:clrScheme name="Custom 11">
      <a:dk1>
        <a:srgbClr val="000000"/>
      </a:dk1>
      <a:lt1>
        <a:srgbClr val="FFFFFF"/>
      </a:lt1>
      <a:dk2>
        <a:srgbClr val="F56727"/>
      </a:dk2>
      <a:lt2>
        <a:srgbClr val="E7E8EA"/>
      </a:lt2>
      <a:accent1>
        <a:srgbClr val="4D5964"/>
      </a:accent1>
      <a:accent2>
        <a:srgbClr val="F5671E"/>
      </a:accent2>
      <a:accent3>
        <a:srgbClr val="CED0D4"/>
      </a:accent3>
      <a:accent4>
        <a:srgbClr val="A9ACB3"/>
      </a:accent4>
      <a:accent5>
        <a:srgbClr val="6C717C"/>
      </a:accent5>
      <a:accent6>
        <a:srgbClr val="36383E"/>
      </a:accent6>
      <a:hlink>
        <a:srgbClr val="8C0025"/>
      </a:hlink>
      <a:folHlink>
        <a:srgbClr val="BA101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367</Words>
  <Application>Microsoft Office PowerPoint</Application>
  <PresentationFormat>Широкоэкранный</PresentationFormat>
  <Paragraphs>61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Arial Narrow</vt:lpstr>
      <vt:lpstr>Calibri</vt:lpstr>
      <vt:lpstr>Wingdings</vt:lpstr>
      <vt:lpstr>4_Тема LADA content</vt:lpstr>
      <vt:lpstr>Презентация PowerPoint</vt:lpstr>
      <vt:lpstr>КЛАССИФИКАЦИЯ РАБОЧИХ МЕСТ ПО ЭРГОНОМИКЕ:</vt:lpstr>
      <vt:lpstr>КЛАССИФИКАЦИЯ РАБОЧИХ МЕСТ ПО ЭРГОНОМИКЕ:</vt:lpstr>
      <vt:lpstr>КЛАССИФИКАЦИЯ РАБОЧИХ МЕСТ ПО ЭРГОНОМИКЕ: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</cp:revision>
  <dcterms:created xsi:type="dcterms:W3CDTF">2026-10-16T04:56:57Z</dcterms:created>
  <dcterms:modified xsi:type="dcterms:W3CDTF">2026-10-16T09:36:17Z</dcterms:modified>
</cp:coreProperties>
</file>